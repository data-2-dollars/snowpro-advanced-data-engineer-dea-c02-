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Inter"/>
      <ns0:bold ns1:id="rIdFont18"/>
      <ns0:regular ns1:id="rIdFont19"/>
    </ns0:embeddedFont>
    <ns0:embeddedFont>
      <ns0:font typeface="JetBrains Mono"/>
      <ns0:bold ns1:id="rIdFont20"/>
      <ns0:regular ns1:id="rIdFont21"/>
    </ns0:embeddedFont>
    <ns0:embeddedFont>
      <ns0:font typeface="Plus Jakarta Sans"/>
      <ns0:bold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2789672a-d0ab-400c-8713-68e7b7393559.fntdata" /><ns0:Relationship Id="rIdFont19" Type="http://schemas.openxmlformats.org/officeDocument/2006/relationships/font" Target="fonts/e6f24e34-8543-481d-9e03-5749ecfe60d7.fntdata" /><ns0:Relationship Id="rIdFont20" Type="http://schemas.openxmlformats.org/officeDocument/2006/relationships/font" Target="fonts/910b0c03-ed4a-4b59-96db-1a6981981eb7.fntdata" /><ns0:Relationship Id="rIdFont21" Type="http://schemas.openxmlformats.org/officeDocument/2006/relationships/font" Target="fonts/80ab80be-c030-4922-bd08-6d2c9b18a6d9.fntdata" /><ns0:Relationship Id="rIdFont22" Type="http://schemas.openxmlformats.org/officeDocument/2006/relationships/font" Target="fonts/18e9cf15-3266-4fec-a982-ce95b609b4c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77009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049809"/>
            <a:ext cx="1919287" cy="285750"/>
          </a:xfrm>
          <a:prstGeom prst="roundRect">
            <a:avLst>
              <a:gd name="adj" fmla="val 13333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526059"/>
            <a:ext cx="9301162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Plus Jakarta Sans"/>
              </a:rPr>
              <a:t>Balance Optimization &amp; Credit Consumption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855690"/>
            <a:ext cx="7334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Optimizing storage configurations, lifecycle policies, and continuous data protection costs in Snowflake data engineering architecture.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50" y="2106959"/>
            <a:ext cx="1747837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SNOWPRO® ADVANCED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43187" y="2106959"/>
            <a:ext cx="2000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JetBrains Mono"/>
              </a:rPr>
              <a:t>DEA-C02 CERTIFICATION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05500"/>
            <a:ext cx="10972800" cy="495300"/>
          </a:xfrm>
          <a:prstGeom prst="roundRect">
            <a:avLst>
              <a:gd name="adj" fmla="val 769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316360"/>
            <a:ext cx="5334000" cy="2400300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316360"/>
            <a:ext cx="5334000" cy="2400300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5905500"/>
            <a:ext cx="38100" cy="4953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0" y="2668785"/>
            <a:ext cx="2667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050" y="2668785"/>
            <a:ext cx="2667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COST TRADE-OFF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The Storage vs. Compute Credit Equation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6057900"/>
            <a:ext cx="113538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Inter"/>
              </a:rPr>
              <a:t>DEA-C02 Key Principle: Never spend high-cost compute credits to achieve negligible storage savings.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3381" y="3125985"/>
            <a:ext cx="5786437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1" sz="5400" i="0" u="none">
                <a:solidFill>
                  <a:srgbClr val="0F172A"/>
                </a:solidFill>
                <a:latin typeface="Plus Jakarta Sans"/>
              </a:rPr>
              <a:t>$23</a:t>
            </a:r>
            <a:r>
              <a:rPr b="1" sz="1800" i="0" u="none">
                <a:solidFill>
                  <a:srgbClr val="64748B"/>
                </a:solidFill>
                <a:latin typeface="Plus Jakarta Sans"/>
              </a:rPr>
              <a:t>/TB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3381" y="3926085"/>
            <a:ext cx="5786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Baseline Storage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3381" y="4183260"/>
            <a:ext cx="57864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Flat monthly rate per compressed TB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22181" y="3125985"/>
            <a:ext cx="5786437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1" sz="5400" i="0" u="none">
                <a:solidFill>
                  <a:srgbClr val="0F172A"/>
                </a:solidFill>
                <a:latin typeface="Plus Jakarta Sans"/>
              </a:rPr>
              <a:t>10x-100x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22181" y="3926085"/>
            <a:ext cx="5786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Compute Credit Multiplier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22181" y="4183260"/>
            <a:ext cx="57864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Unoptimized re-clustering burns warehouse credits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56270"/>
            <a:ext cx="3505200" cy="5044529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1356270"/>
            <a:ext cx="3505200" cy="5044529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95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1356270"/>
            <a:ext cx="3505200" cy="5044529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3925" y="5534025"/>
            <a:ext cx="2876550" cy="552450"/>
          </a:xfrm>
          <a:prstGeom prst="roundRect">
            <a:avLst>
              <a:gd name="adj" fmla="val 1034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57725" y="5534025"/>
            <a:ext cx="2876550" cy="552450"/>
          </a:xfrm>
          <a:prstGeom prst="roundRect">
            <a:avLst>
              <a:gd name="adj" fmla="val 1034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91525" y="5534025"/>
            <a:ext cx="2876550" cy="552450"/>
          </a:xfrm>
          <a:prstGeom prst="roundRect">
            <a:avLst>
              <a:gd name="adj" fmla="val 1034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33725" y="1680120"/>
            <a:ext cx="666750" cy="219075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53225" y="1680120"/>
            <a:ext cx="781050" cy="219075"/>
          </a:xfrm>
          <a:prstGeom prst="roundRect">
            <a:avLst>
              <a:gd name="adj" fmla="val 1739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620375" y="1680120"/>
            <a:ext cx="647700" cy="219075"/>
          </a:xfrm>
          <a:prstGeom prst="roundRect">
            <a:avLst>
              <a:gd name="adj" fmla="val 1739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TABLE SELECTION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Continuous Data Protection (CDP) &amp; Storage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5648325"/>
            <a:ext cx="27432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Best for core business entities and production analytics.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2025" y="5648325"/>
            <a:ext cx="27432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Best for reproducible ETL layers and intermediate tables.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5825" y="5648325"/>
            <a:ext cx="27432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Best for non-persistent pipeline scratchpad operations.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2061120"/>
            <a:ext cx="3595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Full CDP Data 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7725" y="2061120"/>
            <a:ext cx="3595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Zero Fail-Safe Overhead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2061120"/>
            <a:ext cx="3595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Session-Bound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1670595"/>
            <a:ext cx="215026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Permanent Tables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9925" y="1718220"/>
            <a:ext cx="6096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Inter"/>
              </a:rPr>
              <a:t>DEFAULT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25" y="2404020"/>
            <a:ext cx="3595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Time Travel: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0 to 90 days retention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25" y="2680245"/>
            <a:ext cx="2971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Fail-Safe: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Fixed 7-day non-configurable period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925" y="3137445"/>
            <a:ext cx="2971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Cost Driver: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Storage charges for deleted rows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7725" y="1670595"/>
            <a:ext cx="192524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Transient Tables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9425" y="1718220"/>
            <a:ext cx="7239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369A1"/>
                </a:solidFill>
                <a:latin typeface="Inter"/>
              </a:rPr>
              <a:t>OPTIMIZED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7725" y="2404020"/>
            <a:ext cx="2971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Time Travel: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Max 1 day (configurable 0 or 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57725" y="2861220"/>
            <a:ext cx="3595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Fail-Safe: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0 days (No Fail-safe storage)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7725" y="3137445"/>
            <a:ext cx="2971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Cost Driver: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Zero long-term historical retention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1525" y="1670595"/>
            <a:ext cx="212526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Temporary Tables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6575" y="1718220"/>
            <a:ext cx="5905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2400E"/>
                </a:solidFill>
                <a:latin typeface="Inter"/>
              </a:rPr>
              <a:t>SESSION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1525" y="2404020"/>
            <a:ext cx="2971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Time Travel: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Max 1 day (purged on session end)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1525" y="2861220"/>
            <a:ext cx="3595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Fail-Safe: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0 days (purged on session end)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1525" y="3137445"/>
            <a:ext cx="2971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Cost Driver: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Charges end immediately with session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83073"/>
            <a:ext cx="5334000" cy="2352675"/>
          </a:xfrm>
          <a:prstGeom prst="roundRect">
            <a:avLst>
              <a:gd name="adj" fmla="val 32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683073"/>
            <a:ext cx="5334000" cy="2352675"/>
          </a:xfrm>
          <a:prstGeom prst="roundRect">
            <a:avLst>
              <a:gd name="adj" fmla="val 32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683073"/>
            <a:ext cx="38100" cy="23526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48400" y="2683073"/>
            <a:ext cx="38100" cy="23526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87873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2987873"/>
            <a:ext cx="19050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ETL PIPELINE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Managing High-Churn Staging &amp; ETL 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49773"/>
            <a:ext cx="6250781" cy="2381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91B1B"/>
                </a:solidFill>
                <a:latin typeface="Plus Jakarta Sans"/>
              </a:rPr>
              <a:t>The High-Churn Cost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2949773"/>
            <a:ext cx="5638800" cy="2381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65F46"/>
                </a:solidFill>
                <a:latin typeface="Plus Jakarta Sans"/>
              </a:rPr>
              <a:t>DEA-C02 Recommended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40298"/>
            <a:ext cx="4857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Frequent Updates/Deletes: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Generates new micro-partition versions continuously.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16548"/>
            <a:ext cx="4857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Storage Explosion: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Deleted micro-partitions shift into Time Travel and Fail-safe.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92798"/>
            <a:ext cx="4857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Billing Impact: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100 GB table updating 10x/day accumulates terabytes of hidden storage fees.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3340298"/>
            <a:ext cx="4857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Use Transient Tables: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Completely bypasses the 7-day Fail-safe storage penalty.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3816548"/>
            <a:ext cx="4857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Set Retention to 0: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Set 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DATA_RETENTION_TIME_IN_DAYS = 0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for high-churn staging tables.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0" y="4292798"/>
            <a:ext cx="4857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Periodic Backups: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Copy transient tables into permanent tables only when snapshots are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67400"/>
            <a:ext cx="10972800" cy="5334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78310"/>
            <a:ext cx="3505200" cy="163830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678310"/>
            <a:ext cx="3505200" cy="163830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578298"/>
            <a:ext cx="3505200" cy="1838325"/>
          </a:xfrm>
          <a:prstGeom prst="roundRect">
            <a:avLst>
              <a:gd name="adj" fmla="val 62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973585"/>
            <a:ext cx="2571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2973585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2873573"/>
            <a:ext cx="22860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COMPUTE VS STORAGE BALANCE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Micro-Partitioning &amp; Auto-Clustering Credit Trade-Offs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575" y="6048375"/>
            <a:ext cx="114014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JetBrains Mono"/>
              </a:rPr>
              <a:t>Rule of Thumb:</a:t>
            </a:r>
            <a:r>
              <a:rPr b="0" sz="1050" i="0" u="none">
                <a:solidFill>
                  <a:srgbClr val="334155"/>
                </a:solidFill>
                <a:latin typeface="JetBrains Mono"/>
              </a:rPr>
              <a:t> Only define Clustering Keys on multi-terabyte tables with high query pruning inefficiency.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345060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Natural Ingestion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640335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Zero compute credits consumed for sorting.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3345060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Auto-Clustering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640335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Background maintenance credits billed continuously.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3425" y="3245048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Clustering Depth 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540323"/>
            <a:ext cx="3048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Query SYSTEM$CLUSTERING_INFORMATION prior to key definition.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15025"/>
            <a:ext cx="10972800" cy="485775"/>
          </a:xfrm>
          <a:prstGeom prst="roundRect">
            <a:avLst>
              <a:gd name="adj" fmla="val 1568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49723"/>
            <a:ext cx="3505200" cy="19431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549723"/>
            <a:ext cx="3505200" cy="19431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549723"/>
            <a:ext cx="3505200" cy="19431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ZERO-BYTE STORAGE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Zero-Copy Cloning &amp; Secure Data Sharing Efficiency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6067425"/>
            <a:ext cx="113919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DEA-C02 Exam Tip: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Dropping an original table transfers storage ownership of shared micro-partitions to the clone when Time Travel expires.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4356" y="2864048"/>
            <a:ext cx="3595687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0284C7"/>
                </a:solidFill>
                <a:latin typeface="Plus Jakarta Sans"/>
              </a:rPr>
              <a:t>0 Bytes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4356" y="3606998"/>
            <a:ext cx="3595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Initial Clone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356" y="3854648"/>
            <a:ext cx="3595687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Clones point to original micro-partitions via metadata pointers.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8156" y="2864048"/>
            <a:ext cx="3595687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0F766E"/>
                </a:solidFill>
                <a:latin typeface="Plus Jakarta Sans"/>
              </a:rPr>
              <a:t>Delta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8156" y="3606998"/>
            <a:ext cx="3595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Mutated Micro-Partitions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8156" y="3854648"/>
            <a:ext cx="3595687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Storage charges apply exclusively when cloned data updates.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1956" y="2864048"/>
            <a:ext cx="3595687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D97706"/>
                </a:solidFill>
                <a:latin typeface="Plus Jakarta Sans"/>
              </a:rPr>
              <a:t>0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1956" y="3606998"/>
            <a:ext cx="3595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Consumer Storage Fee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1956" y="3854648"/>
            <a:ext cx="3595687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Secure Data Sharing adds zero storage fees for data consumers.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35460"/>
            <a:ext cx="10972800" cy="22479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735460"/>
          <a:ext cx="10963273" cy="22479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104429"/>
                <a:gridCol w="2668339"/>
                <a:gridCol w="2859137"/>
                <a:gridCol w="3331368"/>
              </a:tblGrid>
              <a:tr h="56197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Feature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Storage Overhead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Compute Maintenance Credits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Optimal Use Case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Search Optimization (SOS)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Secondary search access path index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Background maintenance service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Point lookups &amp; substring equality filters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Materialized Views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Stores full view result set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Auto-refresh service on base table write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Frequent aggregations on low-DML base tables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Auto-Clustering Keys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Re-partitioned table micro-partitions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Background re-clustering service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Range scanning on multi-TB tables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FEATURE COMPARISON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Performance Acceleration vs. Credit Consumption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18170"/>
            <a:ext cx="5334000" cy="5082629"/>
          </a:xfrm>
          <a:prstGeom prst="roundRect">
            <a:avLst>
              <a:gd name="adj" fmla="val 224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318170"/>
            <a:ext cx="5334000" cy="5082629"/>
          </a:xfrm>
          <a:prstGeom prst="roundRect">
            <a:avLst>
              <a:gd name="adj" fmla="val 224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STORAGE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Account Usage Telemetry &amp; Cost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083123"/>
            <a:ext cx="62757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Key Metrics: TABLE_STORAGE_METRICS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625" y="3083123"/>
            <a:ext cx="5667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Cost Control &amp; Guardrails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454598"/>
            <a:ext cx="5976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ACTIVE_BYTES: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Physical active table volume.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749873"/>
            <a:ext cx="5976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TIME_TRAVEL_BYTES: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Retention delta storage volume.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4045148"/>
            <a:ext cx="5976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FAILSAFE_BYTES: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Unmodifiable 7-day backup storage.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340423"/>
            <a:ext cx="5976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RETAINED_FOR_CLONE_BYTES: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Bytes kept active solely for clones.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3454598"/>
            <a:ext cx="5667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Resource Monitors: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Set credit quotas on warehouse auto-clustering.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3749873"/>
            <a:ext cx="5667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Snowsight Cost Dashboards: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Monitor average daily storage trends.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4045148"/>
            <a:ext cx="5667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Cost Anomalies: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Configure automated alerts for unexpected spikes.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4340423"/>
            <a:ext cx="5667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Stage Purging: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Set 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PURGE = TRUE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on bulk load COPY INTO scripts.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67400"/>
            <a:ext cx="10972800" cy="5334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78310"/>
            <a:ext cx="3505200" cy="163830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678310"/>
            <a:ext cx="3505200" cy="163830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673548"/>
            <a:ext cx="3505200" cy="1647825"/>
          </a:xfrm>
          <a:prstGeom prst="roundRect">
            <a:avLst>
              <a:gd name="adj" fmla="val 69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973585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2973585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2968823"/>
            <a:ext cx="22860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MONITORING &amp; OBSERVABILITY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Snowsight Task History &amp; Credit Consumption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575" y="6048375"/>
            <a:ext cx="114014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JetBrains Mono"/>
              </a:rPr>
              <a:t>DEA-C02 Exam Tip:</a:t>
            </a:r>
            <a:r>
              <a:rPr b="0" sz="1050" i="0" u="none">
                <a:solidFill>
                  <a:srgbClr val="334155"/>
                </a:solidFill>
                <a:latin typeface="JetBrains Mono"/>
              </a:rPr>
              <a:t> Serverless task credits are billed separately from user-managed virtual warehouses; track both in Snowsight dashboards.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345060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Visual DAG Graph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640335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Real-time execution status and task graph dependency runs in Snowsight.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3345060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Serverless Task Credit 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640335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Monitor compute credit consumption across managed serverless runs.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3425" y="3340298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ACCOUNT_USAGE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635573"/>
            <a:ext cx="304800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Query 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SERVERLESS_TASK_HISTORY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view for 365-day credit analysis.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97423"/>
            <a:ext cx="2421731" cy="1362075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197423"/>
            <a:ext cx="2421731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59956" y="3197423"/>
            <a:ext cx="2421731" cy="1362075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381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59956" y="3197423"/>
            <a:ext cx="2421731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10312" y="3197423"/>
            <a:ext cx="2421731" cy="1362075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381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10312" y="3197423"/>
            <a:ext cx="2421731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60668" y="3197423"/>
            <a:ext cx="2421731" cy="1362075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381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60668" y="3197423"/>
            <a:ext cx="2421731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731" y="3783210"/>
            <a:ext cx="12382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087" y="3783210"/>
            <a:ext cx="12382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4443" y="3783210"/>
            <a:ext cx="123825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DEA-C02 PIPELINE DESIGN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Cost-Optimal Storage Pipeline Lifecycle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426023"/>
            <a:ext cx="2059781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STEP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8556" y="3426023"/>
            <a:ext cx="2059781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766E"/>
                </a:solidFill>
                <a:latin typeface="Inter"/>
              </a:rPr>
              <a:t>STEP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8912" y="3426023"/>
            <a:ext cx="2059781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D97706"/>
                </a:solidFill>
                <a:latin typeface="Inter"/>
              </a:rPr>
              <a:t>STEP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89268" y="3426023"/>
            <a:ext cx="2059781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366F1"/>
                </a:solidFill>
                <a:latin typeface="Inter"/>
              </a:rPr>
              <a:t>STEP 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3730823"/>
            <a:ext cx="257844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Raw Ingestion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4007048"/>
            <a:ext cx="2059781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Auto-purge stages and load into Transient staging tables.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88556" y="3730823"/>
            <a:ext cx="257844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Transformations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8556" y="4007048"/>
            <a:ext cx="2059781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Process via Dynamic Tables with minimal incremental churn.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8912" y="3730823"/>
            <a:ext cx="257844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Analytics Serving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8912" y="4007048"/>
            <a:ext cx="2059781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Store in Permanent tables with tailored Time Travel settings.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9268" y="3730823"/>
            <a:ext cx="257844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Dev &amp; Distribution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9268" y="4007048"/>
            <a:ext cx="2059781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Distribute via Zero-Copy Clones or Secure Data Shares.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28800"/>
            <a:ext cx="1590675" cy="228600"/>
          </a:xfrm>
          <a:prstGeom prst="roundRect">
            <a:avLst>
              <a:gd name="adj" fmla="val 16666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19400"/>
            <a:ext cx="4667250" cy="723900"/>
          </a:xfrm>
          <a:prstGeom prst="roundRect">
            <a:avLst>
              <a:gd name="adj" fmla="val 789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67350" y="2819400"/>
            <a:ext cx="4667250" cy="723900"/>
          </a:xfrm>
          <a:prstGeom prst="roundRect">
            <a:avLst>
              <a:gd name="adj" fmla="val 789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733800"/>
            <a:ext cx="4667250" cy="723900"/>
          </a:xfrm>
          <a:prstGeom prst="roundRect">
            <a:avLst>
              <a:gd name="adj" fmla="val 789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67350" y="3733800"/>
            <a:ext cx="4667250" cy="723900"/>
          </a:xfrm>
          <a:prstGeom prst="roundRect">
            <a:avLst>
              <a:gd name="adj" fmla="val 789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819400"/>
            <a:ext cx="38100" cy="7239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7350" y="2819400"/>
            <a:ext cx="38100" cy="7239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3733800"/>
            <a:ext cx="38100" cy="7239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67350" y="3733800"/>
            <a:ext cx="38100" cy="7239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3900" y="1866900"/>
            <a:ext cx="14573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Plus Jakarta Sans"/>
              </a:rPr>
              <a:t>SUMMARY CHECKLIST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143125"/>
            <a:ext cx="1158240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lus Jakarta Sans"/>
              </a:rPr>
              <a:t>DEA-C02 Optimization &amp; Monitoring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8387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SnowPro® Advanced: Data Engineer (DEA-C02) • Storage &amp; Credit Optimization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2990850"/>
            <a:ext cx="4267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Transient for ETL:</a:t>
            </a:r>
            <a:r>
              <a:rPr b="1" sz="1200" i="0" u="none">
                <a:solidFill>
                  <a:srgbClr val="F8FAFC"/>
                </a:solidFill>
                <a:latin typeface="Inter"/>
              </a:rPr>
              <a:t> Eliminates Fail-safe charges on high-churn staging tables.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34050" y="2990850"/>
            <a:ext cx="4267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Task History Audits:</a:t>
            </a:r>
            <a:r>
              <a:rPr b="1" sz="1200" i="0" u="none">
                <a:solidFill>
                  <a:srgbClr val="F8FAFC"/>
                </a:solidFill>
                <a:latin typeface="Inter"/>
              </a:rPr>
              <a:t> Monitor serverless &amp; warehouse task DAG runs in Snowsight.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3905250"/>
            <a:ext cx="4267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Zero-Copy Development:</a:t>
            </a:r>
            <a:r>
              <a:rPr b="1" sz="1200" i="0" u="none">
                <a:solidFill>
                  <a:srgbClr val="F8FAFC"/>
                </a:solidFill>
                <a:latin typeface="Inter"/>
              </a:rPr>
              <a:t> Spin up test environments with zero initial storage cost.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34050" y="3905250"/>
            <a:ext cx="4267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Audit Telemetry:</a:t>
            </a:r>
            <a:r>
              <a:rPr b="1" sz="1200" i="0" u="none">
                <a:solidFill>
                  <a:srgbClr val="F8FAFC"/>
                </a:solidFill>
                <a:latin typeface="Inter"/>
              </a:rPr>
              <a:t> Track </a:t>
            </a:r>
            <a:r>
              <a:rPr b="1" sz="1200" i="0" u="none">
                <a:solidFill>
                  <a:srgbClr val="F8FAFC"/>
                </a:solidFill>
                <a:latin typeface="Inter"/>
              </a:rPr>
              <a:t>SERVERLESS_TASK_HISTORY</a:t>
            </a:r>
            <a:r>
              <a:rPr b="1" sz="1200" i="0" u="none">
                <a:solidFill>
                  <a:srgbClr val="F8FAFC"/>
                </a:solidFill>
                <a:latin typeface="Inter"/>
              </a:rPr>
              <a:t> &amp; </a:t>
            </a:r>
            <a:r>
              <a:rPr b="1" sz="1200" i="0" u="none">
                <a:solidFill>
                  <a:srgbClr val="F8FAFC"/>
                </a:solidFill>
                <a:latin typeface="Inter"/>
              </a:rPr>
              <a:t>TABLE_STORAGE_METRICS</a:t>
            </a:r>
            <a:r>
              <a:rPr b="1" sz="1200" i="0" u="none">
                <a:solidFill>
                  <a:srgbClr val="F8FAFC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