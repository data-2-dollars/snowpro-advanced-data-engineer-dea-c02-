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</ns0:sldIdLst>
  <ns0:sldSz cx="12192000" cy="6858000" type="screen4x3"/>
  <ns0:notesSz cx="6858000" cy="9144000"/>
  <ns0:embeddedFontLst>
    <ns0:embeddedFont>
      <ns0:font typeface="Inter"/>
      <ns0:italic ns1:id="rIdFont33"/>
      <ns0:bold ns1:id="rIdFont34"/>
      <ns0:regular ns1:id="rIdFont35"/>
    </ns0:embeddedFont>
    <ns0:embeddedFont>
      <ns0:font typeface="Poppins"/>
      <ns0:bold ns1:id="rIdFont3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Font33" Type="http://schemas.openxmlformats.org/officeDocument/2006/relationships/font" Target="fonts/31a5880b-6bdb-47ce-9843-e0351893190b.fntdata" /><ns0:Relationship Id="rIdFont34" Type="http://schemas.openxmlformats.org/officeDocument/2006/relationships/font" Target="fonts/e3925ee0-8e36-4f20-9826-71e6395419d7.fntdata" /><ns0:Relationship Id="rIdFont35" Type="http://schemas.openxmlformats.org/officeDocument/2006/relationships/font" Target="fonts/3f1d04ec-a15f-4d21-a8e6-95fe1a923a1e.fntdata" /><ns0:Relationship Id="rIdFont36" Type="http://schemas.openxmlformats.org/officeDocument/2006/relationships/font" Target="fonts/704671c0-1d1c-4c66-87c4-2ebc8ffdae1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161282"/>
            <a:ext cx="4267200" cy="295275"/>
          </a:xfrm>
          <a:prstGeom prst="roundRect">
            <a:avLst>
              <a:gd name="adj" fmla="val 50000"/>
            </a:avLst>
          </a:prstGeom>
          <a:solidFill>
            <a:srgbClr val="09364A"/>
          </a:solidFill>
          <a:ln w="9525">
            <a:solidFill>
              <a:srgbClr val="00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247007"/>
            <a:ext cx="180975" cy="13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2218432"/>
            <a:ext cx="4057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D8F6"/>
                </a:solidFill>
                <a:latin typeface="Inter"/>
              </a:rPr>
              <a:t>SNOWPRO ADVANCED: DATA ENGINEER (DEA-C02)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685157"/>
            <a:ext cx="695258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oppins"/>
              </a:rPr>
              <a:t>Section 2.1: Troubleshoot</a:t>
            </a:r>
            <a:r>
              <a:t>
</a:t>
            </a:r>
            <a:r>
              <a:rPr b="1" sz="4050" i="0" u="none">
                <a:solidFill>
                  <a:srgbClr val="FFFFFF"/>
                </a:solidFill>
                <a:latin typeface="Poppins"/>
              </a:rPr>
              <a:t> Underperforming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010917"/>
            <a:ext cx="866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An end-to-end certification masterclass covering performance diagnosis, telemetry evaluation, root cause identification, and query execution optimization.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412456"/>
            <a:ext cx="1143000" cy="38100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407443"/>
            <a:ext cx="43934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D8F6"/>
                </a:solidFill>
                <a:latin typeface="Inter"/>
              </a:rPr>
              <a:t>DOMAIN 2.0 • WEIGHTAGE: 19%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50343"/>
            <a:ext cx="11620500" cy="547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FFFFF"/>
                </a:solidFill>
                <a:latin typeface="Poppins"/>
              </a:rPr>
              <a:t>Performance Optimization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88531"/>
            <a:ext cx="771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Domain 2 evaluates your ability to maintain SLA compliance, scale compute efficiently, and resolve database bottlenecks across enterprise cloud workloads.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513558"/>
            <a:ext cx="5357812" cy="2581275"/>
          </a:xfrm>
          <a:prstGeom prst="roundRect">
            <a:avLst>
              <a:gd name="adj" fmla="val 36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2687" y="2513558"/>
            <a:ext cx="5357812" cy="2581275"/>
          </a:xfrm>
          <a:prstGeom prst="roundRect">
            <a:avLst>
              <a:gd name="adj" fmla="val 36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Section 2.1 Exam Objectives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789783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1. Identification &amp;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18408"/>
            <a:ext cx="49006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Identify Underperforming Queries: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Isolate queries violating SLAs using Snowsight Query History, `ACCOUNT_USAGE` views, and Information Schema.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185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Outline Telemetry: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Analyze Query Profile operator DAGs, memory spillover, micro-partition pruning ratios, and execution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912" y="2789783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2. Root Cause &amp; Remediation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912" y="3218408"/>
            <a:ext cx="49006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Identify Root Cause: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Differentiate between warehouse queueing, spilling (Local vs. Remote), unpruned scans, and Cartesian join fan-out.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4018508"/>
            <a:ext cx="49006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Increase Efficiency: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Apply targeted fixes including re-clustering, Search Optimization, query rewrite, and Scale-Up vs. Scale-Out tuning.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412456"/>
            <a:ext cx="1143000" cy="38100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407443"/>
            <a:ext cx="1228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D8F6"/>
                </a:solidFill>
                <a:latin typeface="Inter"/>
              </a:rPr>
              <a:t>PILLAR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50343"/>
            <a:ext cx="10813851" cy="547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FFFFF"/>
                </a:solidFill>
                <a:latin typeface="Poppins"/>
              </a:rPr>
              <a:t>Identify Underperforming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88531"/>
            <a:ext cx="771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Discovering long-running, queued, or resource-heavy workloads using Snowflake system tools and system 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527845"/>
            <a:ext cx="3524250" cy="2552700"/>
          </a:xfrm>
          <a:prstGeom prst="roundRect">
            <a:avLst>
              <a:gd name="adj" fmla="val 37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3875" y="2527845"/>
            <a:ext cx="3524250" cy="2552700"/>
          </a:xfrm>
          <a:prstGeom prst="roundRect">
            <a:avLst>
              <a:gd name="adj" fmla="val 37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0" y="2527845"/>
            <a:ext cx="3524250" cy="2552700"/>
          </a:xfrm>
          <a:prstGeom prst="roundRect">
            <a:avLst>
              <a:gd name="adj" fmla="val 37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2823120"/>
            <a:ext cx="390525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2823120"/>
            <a:ext cx="3048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2823120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Primary Query Monitoring Instruments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3356520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Snowsight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785145"/>
            <a:ext cx="31051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Real-time visual monitoring for immediate interactive troubleshooting. Provides interactive Query Profile graphical DAG and execution history for up to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14 days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1050" y="3356520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Information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050" y="3785145"/>
            <a:ext cx="3105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Real-time programmatic table functions (e.g.,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QUERY_HISTORY()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). Zero latency for active troubleshooting with history retained for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7 days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356520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Account Usage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785145"/>
            <a:ext cx="3105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Historical telemetry repository in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SNOWFLAKE.ACCOUNT_USAGE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 Holds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365 days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of data with up to 45 minutes of latency for enterprise auditing.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37433"/>
            <a:ext cx="2698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69902" y="3037433"/>
            <a:ext cx="2443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3065" y="3037433"/>
            <a:ext cx="28685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81578" y="3037433"/>
            <a:ext cx="3038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542258"/>
            <a:ext cx="2698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9902" y="3542258"/>
            <a:ext cx="2443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3065" y="3542258"/>
            <a:ext cx="28685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81578" y="3542258"/>
            <a:ext cx="3038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047083"/>
            <a:ext cx="2698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9902" y="4047083"/>
            <a:ext cx="2443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3065" y="4047083"/>
            <a:ext cx="28685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81578" y="4047083"/>
            <a:ext cx="3038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551908"/>
            <a:ext cx="2698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9902" y="4551908"/>
            <a:ext cx="2443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3065" y="4551908"/>
            <a:ext cx="28685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81578" y="4551908"/>
            <a:ext cx="3038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71500" y="2546895"/>
          <a:ext cx="11048998" cy="2514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98402"/>
                <a:gridCol w="2443162"/>
                <a:gridCol w="2868513"/>
                <a:gridCol w="303892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Feature / 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Snowsight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Information Schema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Account Usage Views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Data Retention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14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7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365 Days (1 Year)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Latency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Real-time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Real-time (0 latency)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45 Minutes Latency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Dropped Object History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Current objects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Current objects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Includes Dropped Objects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Primary Usage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Visual DAG inspection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Session &amp; real-time scripts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Account-wide trend analysis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Monitoring Tools Comparison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832645"/>
            <a:ext cx="4267200" cy="1943100"/>
          </a:xfrm>
          <a:prstGeom prst="roundRect">
            <a:avLst>
              <a:gd name="adj" fmla="val 5882"/>
            </a:avLst>
          </a:prstGeom>
          <a:solidFill>
            <a:srgbClr val="03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Key Performance Indicators (KPIs)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3213645"/>
            <a:ext cx="4381500" cy="857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b="1" sz="6750" i="0" u="none">
                <a:solidFill>
                  <a:srgbClr val="FFFFFF"/>
                </a:solidFill>
                <a:latin typeface="Poppins"/>
              </a:rPr>
              <a:t>&gt;0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4166145"/>
            <a:ext cx="4381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E0F2FE"/>
                </a:solidFill>
                <a:latin typeface="Inter"/>
              </a:rPr>
              <a:t>Bytes Spilled To Remote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9700" y="2727870"/>
            <a:ext cx="682085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Critical Performance Thresholds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9700" y="3156495"/>
            <a:ext cx="6496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Elapsed Execution Time: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Benchmark queries exceeding normal baseline operational SLAs.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9700" y="3727995"/>
            <a:ext cx="6496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Compilation Ratio: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High compilation time (&gt;50% of total elapsed time) flags complex expressions or giant IN-clauses.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9700" y="4299495"/>
            <a:ext cx="64960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Queue Time: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Any non-zero value in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QUEUED_OVERLOAD_TIME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signals warehouse concurrency saturation requiring capacity adjustments.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18383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18433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8483"/>
            <a:ext cx="23812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18533"/>
            <a:ext cx="19050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Spotting Query Anomaly Symptoms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0409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Excessive Execution Time: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Queries running longer than operational baselines due to unpruned scans or spilling.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0414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High Queue Overload Time: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Indicates warehouse resource congestion; queries wait for compute threads to become free.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0419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High Compilation Time: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Caused by complex query generators, massive lists of literal values, or hundreds of nested 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424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Disk Spilling Alerts: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Memory exhaustion forces local SSD overflow or remote cloud storage spilling.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412456"/>
            <a:ext cx="1143000" cy="38100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407443"/>
            <a:ext cx="12668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D8F6"/>
                </a:solidFill>
                <a:latin typeface="Inter"/>
              </a:rPr>
              <a:t>PILLAR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50343"/>
            <a:ext cx="11620500" cy="547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FFFFF"/>
                </a:solidFill>
                <a:latin typeface="Poppins"/>
              </a:rPr>
              <a:t>Outline Telemetry Around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88531"/>
            <a:ext cx="771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Deep-dive into the Snowflake Query Profile DAG, execution statistics, and execution plan operators.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994445"/>
            <a:ext cx="5357812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Snowflake Query Profile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94445"/>
            <a:ext cx="572571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Understanding the Profile 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23070"/>
            <a:ext cx="54530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The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Query Profile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renders execution as a Directed Acyclic Graph (DAG) of physical operators.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94570"/>
            <a:ext cx="669726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Major Category Breakdown: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33747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337470"/>
            <a:ext cx="6459140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Processing: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CPU execution time for computing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56607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566070"/>
            <a:ext cx="6459140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Local I/O: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Reading/writing data to local warehouse SSDs.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79467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794670"/>
            <a:ext cx="6459140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Remote I/O: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Reading from cloud storage (S3/GCS/Azure Blob).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402327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023270"/>
            <a:ext cx="6459140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Network: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Inter-node data shuffling during joins.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742158"/>
            <a:ext cx="5357812" cy="2124075"/>
          </a:xfrm>
          <a:prstGeom prst="roundRect">
            <a:avLst>
              <a:gd name="adj" fmla="val 44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2687" y="2742158"/>
            <a:ext cx="5357812" cy="2124075"/>
          </a:xfrm>
          <a:prstGeom prst="roundRect">
            <a:avLst>
              <a:gd name="adj" fmla="val 44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Key Profile Relational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018383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Data Access &amp;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470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TableScan: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Reads micro-partitions from storage. Inspect the ratio of 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Partitions Scanned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vs. 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Total Partitions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185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Filter: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Applies predicate conditions. If placed above a TableScan without reducing scanned partitions, pruning failed.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912" y="3018383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Data Processing &amp; Joining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912" y="34470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Join / JoinFilter: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Combines data streams. Watch for row explosion where output rows heavily exceed input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40185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Aggregate / Sort: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Groups or orders data. High memory consumers that trigger disk spilling if batch sizes are huge.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408783"/>
            <a:ext cx="3524250" cy="2790825"/>
          </a:xfrm>
          <a:prstGeom prst="roundRect">
            <a:avLst>
              <a:gd name="adj" fmla="val 34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3875" y="2408783"/>
            <a:ext cx="3524250" cy="2790825"/>
          </a:xfrm>
          <a:prstGeom prst="roundRect">
            <a:avLst>
              <a:gd name="adj" fmla="val 34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0" y="2408783"/>
            <a:ext cx="3524250" cy="2790825"/>
          </a:xfrm>
          <a:prstGeom prst="roundRect">
            <a:avLst>
              <a:gd name="adj" fmla="val 34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2704058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2704058"/>
            <a:ext cx="39052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2704058"/>
            <a:ext cx="42862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Essential Telemetry Metrics to 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3237458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Partition Pruning Ratios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666083"/>
            <a:ext cx="31051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Compares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partitions_scanned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against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partitions_total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 Efficient queries scan &lt;10% of total partitions.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1050" y="3237458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Disk Spilling Volumes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050" y="3666083"/>
            <a:ext cx="310515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Tracks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BYTES_SPILLED_TO_LOCAL_STORAGE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and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BYTES_SPILLED_TO_REMOTE_STORAGE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when RAM is exceeded.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237458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Network Transmission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666083"/>
            <a:ext cx="3105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Measures inter-node data shuffling during distributed joins or heavy aggregations across warehouse nodes.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627858"/>
            <a:ext cx="5357812" cy="2352675"/>
          </a:xfrm>
          <a:prstGeom prst="roundRect">
            <a:avLst>
              <a:gd name="adj" fmla="val 4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2687" y="2627858"/>
            <a:ext cx="5357812" cy="2352675"/>
          </a:xfrm>
          <a:prstGeom prst="roundRect">
            <a:avLst>
              <a:gd name="adj" fmla="val 4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Pre-Execution Telemetry with 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904083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SYSTEM$EXPLAIN_PLAN_JSON()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32708"/>
            <a:ext cx="49006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Returns the logical execution plan as a JSON formatted string without executing the query or consuming warehouse compute credits.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1328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Allows pre-execution inspection of predicted operator trees and estimated cost structures.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912" y="2904083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EXPLAIN SQL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912" y="33327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Evaluates query structure, predicate evaluation order, and potential join strategies prior to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39042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Exam Distinction: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EXPLAIN shows estimated execution paths; Query Profile shows actual runtime metrics and telemetry.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269581"/>
            <a:ext cx="1143000" cy="38100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550318"/>
            <a:ext cx="12668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D8F6"/>
                </a:solidFill>
                <a:latin typeface="Inter"/>
              </a:rPr>
              <a:t>PILLAR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893218"/>
            <a:ext cx="7425928" cy="547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FFFFF"/>
                </a:solidFill>
                <a:latin typeface="Poppins"/>
              </a:rPr>
              <a:t>Identify the 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631406"/>
            <a:ext cx="94178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Correlating telemetry symptoms to underlying architectural and SQL anti-patterns.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18383"/>
            <a:ext cx="3234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06279" y="3018383"/>
            <a:ext cx="58169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23226" y="3018383"/>
            <a:ext cx="1997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532733"/>
            <a:ext cx="3234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6279" y="3532733"/>
            <a:ext cx="58169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23226" y="3532733"/>
            <a:ext cx="1997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047083"/>
            <a:ext cx="3234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06279" y="4047083"/>
            <a:ext cx="58169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23226" y="4047083"/>
            <a:ext cx="1997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561433"/>
            <a:ext cx="3234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06279" y="4561433"/>
            <a:ext cx="58169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23226" y="4561433"/>
            <a:ext cx="1997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1500" y="2527845"/>
          <a:ext cx="11048999" cy="25527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34779"/>
                <a:gridCol w="5816947"/>
                <a:gridCol w="1997273"/>
              </a:tblGrid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Telemetry Symptom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Underlying Root Cause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Impact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QUEUED_OVERLOAD_TIME &gt; 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Warehouse concurrency capacity reached; too many concurrent queries.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High (Delayed Start)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Bytes Spilled to Local 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Warehouse node memory (RAM) exhausted; written to local SSD.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Moderate Degradation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Bytes Spilled to Remote 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Local SSD exhausted; written to cloud object storage (S3/GCS/Azure).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Severe Degradation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Partitions Scanned ≈ Total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Poor pruning caused by missing cluster key or functions in WHERE clause.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High (Excess I/O)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Root Cause Diagnostic Matrix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742158"/>
            <a:ext cx="5357812" cy="2124075"/>
          </a:xfrm>
          <a:prstGeom prst="roundRect">
            <a:avLst>
              <a:gd name="adj" fmla="val 44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2687" y="2742158"/>
            <a:ext cx="5357812" cy="2124075"/>
          </a:xfrm>
          <a:prstGeom prst="roundRect">
            <a:avLst>
              <a:gd name="adj" fmla="val 44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Disk Spilling Mechanics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018383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1. Local SSD Spilling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470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Occurs when memory required for join states or sorting operations exceeds worker node physical 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185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Data is written to fast local NVMe SSDs. Causes moderate query slowdown but avoids query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912" y="3018383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2. Remote Cloud Spilling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912" y="34470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Occurs when both worker node RAM and local SSD storage are completely exhausted.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4018508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Data spills to remote cloud storage. Incurs massive network I/O latency penalty. Primary fix: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Scale UP warehouse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623095"/>
            <a:ext cx="5357812" cy="2362200"/>
          </a:xfrm>
          <a:prstGeom prst="roundRect">
            <a:avLst>
              <a:gd name="adj" fmla="val 40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2687" y="2623095"/>
            <a:ext cx="5357812" cy="2362200"/>
          </a:xfrm>
          <a:prstGeom prst="roundRect">
            <a:avLst>
              <a:gd name="adj" fmla="val 40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Why Micro-Partition Pruning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899320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Non-SARGable Predicates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27945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Applying functions directly to filtered columns breaks metadata pruning.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899445"/>
            <a:ext cx="4900612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334155"/>
                </a:solidFill>
                <a:latin typeface="Inter"/>
              </a:rPr>
              <a:t>Anti-Pattern: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WHERE YEAR(order_date) = 2026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forces full table scan because min/max metadata cannot be evaluated against expressions.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912" y="2899320"/>
            <a:ext cx="514564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Unclustered &amp; High-Cardinality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912" y="3327945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Data inserted randomly without natural alignment spreads matching values across all micro-partitions.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3899445"/>
            <a:ext cx="4900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Without explicit Clustering Keys, Snowflake cannot bypass irrelevant micro-partitions.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5334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7000875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Join Fan-Out &amp; Row Explosion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26790"/>
            <a:ext cx="57007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Row Explosion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655415"/>
            <a:ext cx="5429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Row explosion occurs when a join operator produces output row counts orders of magnitude higher than input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26915"/>
            <a:ext cx="5429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Primary Causes: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Non-unique join keys, missing join predicates causing Cartesian cross-joins, or many-to-many join duplication.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798415"/>
            <a:ext cx="6667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This consumes massive memory, leading directly to remote disk spilling.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412456"/>
            <a:ext cx="1143000" cy="38100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407443"/>
            <a:ext cx="12763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D8F6"/>
                </a:solidFill>
                <a:latin typeface="Inter"/>
              </a:rPr>
              <a:t>PILLAR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50343"/>
            <a:ext cx="8113514" cy="547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FFFFF"/>
                </a:solidFill>
                <a:latin typeface="Poppins"/>
              </a:rPr>
              <a:t>Increase Query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88531"/>
            <a:ext cx="771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Architectural optimizations, SQL refactoring, and virtual warehouse resizing strategies.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646908"/>
            <a:ext cx="3524250" cy="2314575"/>
          </a:xfrm>
          <a:prstGeom prst="roundRect">
            <a:avLst>
              <a:gd name="adj" fmla="val 41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3875" y="2646908"/>
            <a:ext cx="3524250" cy="2314575"/>
          </a:xfrm>
          <a:prstGeom prst="roundRect">
            <a:avLst>
              <a:gd name="adj" fmla="val 41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0" y="2646908"/>
            <a:ext cx="3524250" cy="2314575"/>
          </a:xfrm>
          <a:prstGeom prst="roundRect">
            <a:avLst>
              <a:gd name="adj" fmla="val 41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2942183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2942183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2942183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Storage &amp; Layout Optimizations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3475583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Clustering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904208"/>
            <a:ext cx="3105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Explicitly order micro-partitions for large multi-terabyte tables based on frequent filter/join columns to optimize pruning.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1050" y="3475583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Search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050" y="3904208"/>
            <a:ext cx="3105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Maintains persistent search access paths for fast point-lookup queries on high-cardinality columns (e.g., UUID lookup).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475583"/>
            <a:ext cx="32604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oppins"/>
              </a:rPr>
              <a:t>Materialized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904208"/>
            <a:ext cx="3105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Pre-computes and maintains aggregated or filtered query patterns automatically without manual ETL pipelines.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4558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42258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42308"/>
            <a:ext cx="2190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42358"/>
            <a:ext cx="21907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SQL Rewriting &amp; Predicate Best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270"/>
            <a:ext cx="108013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Use SARGable Date Ranges: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Replace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WHERE DATE(created_at) = '2026-01-01'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with range filters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WHERE created_at &gt;= '2026-01-01' AND created_at &lt; '2026-01-02'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7970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Avoid SELECT *: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Project only explicitly required columns to reduce scanned I/O and worker memory consumption.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28020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Pre-Aggregate Joins: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Group data before joining to prevent intermediate join fan-out and memory spilling.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28070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Optimize CTEs &amp; Subqueries: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Ensure CTEs do not materialise unnecessary result sets before downstream filters apply.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6790"/>
            <a:ext cx="11049000" cy="51549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Warehouse Tuning Decision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23320"/>
            <a:ext cx="11620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334155"/>
                </a:solidFill>
                <a:latin typeface="Inter"/>
              </a:rPr>
              <a:t>Choose Scale UP for memory-bound heavy single queries; choose Scale OUT (Multi-Cluster) for queue time caused by concurrent queries.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27908"/>
            <a:ext cx="3126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98378" y="3027908"/>
            <a:ext cx="2268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67263" y="3027908"/>
            <a:ext cx="5653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532733"/>
            <a:ext cx="3126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98378" y="3532733"/>
            <a:ext cx="2268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67263" y="3532733"/>
            <a:ext cx="5653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047083"/>
            <a:ext cx="3126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98378" y="4047083"/>
            <a:ext cx="2268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67263" y="4047083"/>
            <a:ext cx="5653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561433"/>
            <a:ext cx="3126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98378" y="4561433"/>
            <a:ext cx="2268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7263" y="4561433"/>
            <a:ext cx="5653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1500" y="2537370"/>
          <a:ext cx="11048998" cy="25336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26878"/>
                <a:gridCol w="2268884"/>
                <a:gridCol w="5653236"/>
              </a:tblGrid>
              <a:tr h="5067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Problem Indicator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Action Required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oppins"/>
                        </a:rPr>
                        <a:t>Mechanism / Property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Disk Spilling (Local/Remote)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Scale 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Increase Warehouse Size (e.g., Medium → Large doubles RAM per node).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Queueing Overload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Scale 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Enable Multi-Cluster Warehouse (increase 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MAX_CLUSTERS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Ad-hoc Large Table Scans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Query Acceleration (QAS)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Enable 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QUERY_ACCELERATION_MAX_SCALE_FACTOR</a:t>
                      </a:r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Heavy Python / Snowpark Workloads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Snowpark-Optimized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Switch to Snowpark-Optimized Warehouse (16x memory per node).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Scale UP vs. Scale OUT Decision Matrix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18383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18433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8483"/>
            <a:ext cx="23812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18533"/>
            <a:ext cx="19050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DEA-C02 Exam Quick Reference Cheat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0409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Spilling to Local Storage: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Minor memory issue. First check query optimization, then consider Scaling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0414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Spilling to Remote Storage: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Major bottleneck. Primary resolution is Scaling UP warehouse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0419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High QUEUED_OVERLOAD_TIME: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Solve by adjusting Multi-Cluster scaling policy or increasing Max Clusters.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424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Point Lookups on Billions of Rows: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Enable Search Optimization Service (SOS).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447925"/>
            <a:ext cx="11620500" cy="904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FFFFFF"/>
                </a:solidFill>
                <a:latin typeface="Poppins"/>
              </a:rPr>
              <a:t>Ready for DEA-C02 Success!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95675"/>
            <a:ext cx="877490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You have mastered Section 2.1: Troubleshoot Underperforming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10050"/>
            <a:ext cx="628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D8F6"/>
                </a:solidFill>
                <a:latin typeface="Inter"/>
              </a:rPr>
              <a:t>SnowPro Advanced: Data Engineer Certification Masterclass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0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37433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994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7994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80308"/>
            <a:ext cx="857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51833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20500" cy="417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187451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https://docs.cloud.google.com/static/spanner/docs/images/co-located-query-plan.png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420814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docs.cloud.google.com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3958976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https://media.geeksforgeeks.org/wp-content/uploads/20210318074917/archcloud2.png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4192339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www.geeksforgeeks.org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