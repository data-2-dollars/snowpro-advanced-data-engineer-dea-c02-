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</ns0:embeddedFont>
    <ns0:embeddedFont>
      <ns0:font typeface="Inter"/>
      <ns0:bold ns1:id="rIdFont20"/>
      <ns0:regular ns1:id="rIdFont21"/>
    </ns0:embeddedFont>
    <ns0:embeddedFont>
      <ns0:font typeface="JetBrains Mono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db408f9d-eb69-4368-afc4-1a2217bea1f1.fntdata" /><ns0:Relationship Id="rIdFont20" Type="http://schemas.openxmlformats.org/officeDocument/2006/relationships/font" Target="fonts/62b5b80f-c4c6-4723-967c-d5ee651ceecb.fntdata" /><ns0:Relationship Id="rIdFont21" Type="http://schemas.openxmlformats.org/officeDocument/2006/relationships/font" Target="fonts/c9d6fd63-3df5-455c-a3e9-1199673b0580.fntdata" /><ns0:Relationship Id="rIdFont22" Type="http://schemas.openxmlformats.org/officeDocument/2006/relationships/font" Target="fonts/d54e8bc0-2965-417f-b13f-36b0cfb27a4d.fntdata" /><ns0:Relationship Id="rIdFont23" Type="http://schemas.openxmlformats.org/officeDocument/2006/relationships/font" Target="fonts/2f51caa4-32af-42a0-8688-909eb013975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01442"/>
            <a:ext cx="714375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401442"/>
            <a:ext cx="7143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7525" y="4677667"/>
            <a:ext cx="9525" cy="3619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18382"/>
            <a:ext cx="20002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046982"/>
            <a:ext cx="8601075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Domain 1.7: General Table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48942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Mastering table persistence, atomic operations, lifecycle management, and architectural trade-offs in Snowflake.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1846957"/>
            <a:ext cx="4976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SNOWPRO® ADVANCED: DATA ENGINEER (DEA-C02)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677667"/>
            <a:ext cx="24884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FOCUS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858642"/>
            <a:ext cx="2488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Inter"/>
              </a:rPr>
              <a:t>Table Lifecycle &amp;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850" y="4677667"/>
            <a:ext cx="3107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KEY MECHANICS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1850" y="4858642"/>
            <a:ext cx="3107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2E8F0"/>
                </a:solidFill>
                <a:latin typeface="Inter"/>
              </a:rPr>
              <a:t>Zero-Copy Cloning &amp; Atomic Swaps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2725"/>
            <a:ext cx="3505200" cy="2295525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59881"/>
            <a:ext cx="3505200" cy="2081212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52725"/>
            <a:ext cx="3505200" cy="2295525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670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74206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670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190875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3298031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190875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CORE COMPETENCIES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Domain 1.7 Management Pillars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2425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Engine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876675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Permanent, Transient, Temporary, External, Iceberg, and Hybrid table selection based on persistence and SLA requirements.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631406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Atomic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983831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Executing zero-downtime blue/green table swaps, zero-copy cloning, and point-in-time state recovery.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52425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Physical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876675"/>
            <a:ext cx="29718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Managing clustering keys, pruning diagnostics, and Time Travel retention windows to optimize compute and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619375"/>
          <a:ext cx="10972797" cy="24860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71587"/>
                <a:gridCol w="2340768"/>
                <a:gridCol w="1339155"/>
                <a:gridCol w="1091505"/>
                <a:gridCol w="4929782"/>
              </a:tblGrid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Table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Persistence Scope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Time Travel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Fail-safe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Primary Use Case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Permanent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Explicit drop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0 – 90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7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Production datasets requiring strict disaster recovery.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Transient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Explicit drop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0 or 1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Persistent lookups and high-churn staging pipelines.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Temporary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Session duration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0 or 1 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DC2626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Session-scoped ETL scratchpads and intermediate joins.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284C7"/>
                          </a:solidFill>
                          <a:latin typeface="Inter"/>
                        </a:rPr>
                        <a:t>External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Pointer to Cloud Storage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F172A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In-place querying of external S3 / GCS data lakes.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STORAGE &amp; RETENTION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Snowflake Table Lifecycle Matrix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76487"/>
            <a:ext cx="35052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376487"/>
            <a:ext cx="35052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376487"/>
            <a:ext cx="350520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4729162"/>
            <a:ext cx="287655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57725" y="4729162"/>
            <a:ext cx="287655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91525" y="4729162"/>
            <a:ext cx="287655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71462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71462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714625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ADVANCED SNOWFLAKE TABLE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Specialized Engine Architectures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928937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Row-store backed Unistore engine for low-latency operational transactions combined with analytical queries.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843462"/>
            <a:ext cx="3214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Key Feature: Enforces Primary Keys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2928937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Open-table format tables using customer-managed storage and catalog integration for interoperable lakehouse querying.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0125" y="4843462"/>
            <a:ext cx="3214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Key Feature: Native Parquet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2928937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Persistent capture targets for telemetry, log statements, and trace events emitted from UDFs, UDTFs, and Native Apps.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3925" y="4843462"/>
            <a:ext cx="3214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Key Feature: Logging &amp;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2690812"/>
            <a:ext cx="163770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Hybrid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3475" y="2690812"/>
            <a:ext cx="176272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Iceberg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850" y="2690812"/>
            <a:ext cx="151268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Event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2395983"/>
            <a:ext cx="5562600" cy="2932807"/>
          </a:xfrm>
          <a:prstGeom prst="roundRect">
            <a:avLst>
              <a:gd name="adj" fmla="val 389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371850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905250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438650"/>
            <a:ext cx="17145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ZERO-DOWNTIME ETL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Atomic Table Swapping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662683"/>
            <a:ext cx="5124450" cy="23994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3F5E"/>
                </a:solidFill>
                <a:latin typeface="Inter"/>
              </a:rPr>
              <a:t>-- Build staging table</a:t>
            </a:r>
            <a:r>
              <a:rPr b="0" sz="1050" i="0" u="none">
                <a:solidFill>
                  <a:srgbClr val="F8FAFC"/>
                </a:solidFill>
                <a:latin typeface="Inter"/>
              </a:rPr>
              <a:t> </a:t>
            </a:r>
            <a:r>
              <a:rPr b="1" sz="1050" i="0" u="none">
                <a:solidFill>
                  <a:srgbClr val="38BDF8"/>
                </a:solidFill>
                <a:latin typeface="Inter"/>
              </a:rPr>
              <a:t>CREATE OR REPLACE TABLE</a:t>
            </a:r>
            <a:r>
              <a:rPr b="0" sz="1050" i="0" u="none">
                <a:solidFill>
                  <a:srgbClr val="F8FAFC"/>
                </a:solidFill>
                <a:latin typeface="Inter"/>
              </a:rPr>
              <a:t> core_sales_stage </a:t>
            </a:r>
            <a:r>
              <a:rPr b="1" sz="1050" i="0" u="none">
                <a:solidFill>
                  <a:srgbClr val="38BDF8"/>
                </a:solidFill>
                <a:latin typeface="Inter"/>
              </a:rPr>
              <a:t>AS SELECT</a:t>
            </a:r>
            <a:r>
              <a:rPr b="0" sz="1050" i="0" u="none">
                <a:solidFill>
                  <a:srgbClr val="F8FAFC"/>
                </a:solidFill>
                <a:latin typeface="Inter"/>
              </a:rPr>
              <a:t> * </a:t>
            </a:r>
            <a:r>
              <a:rPr b="1" sz="1050" i="0" u="none">
                <a:solidFill>
                  <a:srgbClr val="38BDF8"/>
                </a:solidFill>
                <a:latin typeface="Inter"/>
              </a:rPr>
              <a:t>FROM</a:t>
            </a:r>
            <a:r>
              <a:rPr b="0" sz="1050" i="0" u="none">
                <a:solidFill>
                  <a:srgbClr val="F8FAFC"/>
                </a:solidFill>
                <a:latin typeface="Inter"/>
              </a:rPr>
              <a:t> raw_sales_stream; </a:t>
            </a:r>
            <a:r>
              <a:rPr b="0" sz="1050" i="0" u="none">
                <a:solidFill>
                  <a:srgbClr val="F43F5E"/>
                </a:solidFill>
                <a:latin typeface="Inter"/>
              </a:rPr>
              <a:t>-- Atomic metadata swap</a:t>
            </a:r>
            <a:r>
              <a:rPr b="0" sz="1050" i="0" u="none">
                <a:solidFill>
                  <a:srgbClr val="F8FAFC"/>
                </a:solidFill>
                <a:latin typeface="Inter"/>
              </a:rPr>
              <a:t> </a:t>
            </a:r>
            <a:r>
              <a:rPr b="1" sz="1050" i="0" u="none">
                <a:solidFill>
                  <a:srgbClr val="38BDF8"/>
                </a:solidFill>
                <a:latin typeface="Inter"/>
              </a:rPr>
              <a:t>ALTER TABLE</a:t>
            </a:r>
            <a:r>
              <a:rPr b="0" sz="1050" i="0" u="none">
                <a:solidFill>
                  <a:srgbClr val="F8FAFC"/>
                </a:solidFill>
                <a:latin typeface="Inter"/>
              </a:rPr>
              <a:t> core_sales </a:t>
            </a:r>
            <a:r>
              <a:rPr b="1" sz="1050" i="0" u="none">
                <a:solidFill>
                  <a:srgbClr val="38BDF8"/>
                </a:solidFill>
                <a:latin typeface="Inter"/>
              </a:rPr>
              <a:t>SWAP WITH</a:t>
            </a:r>
            <a:r>
              <a:rPr b="0" sz="1050" i="0" u="none">
                <a:solidFill>
                  <a:srgbClr val="F8FAFC"/>
                </a:solidFill>
                <a:latin typeface="Inter"/>
              </a:rPr>
              <a:t> core_sales_stage; </a:t>
            </a:r>
            <a:r>
              <a:rPr b="0" sz="1050" i="0" u="none">
                <a:solidFill>
                  <a:srgbClr val="F43F5E"/>
                </a:solidFill>
                <a:latin typeface="Inter"/>
              </a:rPr>
              <a:t>-- Clean up old dataset</a:t>
            </a:r>
            <a:r>
              <a:rPr b="0" sz="1050" i="0" u="none">
                <a:solidFill>
                  <a:srgbClr val="F8FAFC"/>
                </a:solidFill>
                <a:latin typeface="Inter"/>
              </a:rPr>
              <a:t> </a:t>
            </a:r>
            <a:r>
              <a:rPr b="1" sz="1050" i="0" u="none">
                <a:solidFill>
                  <a:srgbClr val="38BDF8"/>
                </a:solidFill>
                <a:latin typeface="Inter"/>
              </a:rPr>
              <a:t>DROP TABLE</a:t>
            </a:r>
            <a:r>
              <a:rPr b="0" sz="1050" i="0" u="none">
                <a:solidFill>
                  <a:srgbClr val="F8FAFC"/>
                </a:solidFill>
                <a:latin typeface="Inter"/>
              </a:rPr>
              <a:t> core_sales_stage;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28937"/>
            <a:ext cx="66008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Blue-Green Table Swaps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662683"/>
            <a:ext cx="5905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-- Atomic Production Table Refresh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929383"/>
            <a:ext cx="5124450" cy="2132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F43F5E"/>
                </a:solidFill>
                <a:latin typeface="JetBrains Mono"/>
              </a:rPr>
              <a:t>-- Build staging table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38BDF8"/>
                </a:solidFill>
                <a:latin typeface="JetBrains Mono"/>
              </a:rPr>
              <a:t>CREATE OR REPLACE TABLE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core_sales_stage </a:t>
            </a:r>
            <a:r>
              <a:rPr b="1" sz="1050" i="0" u="none">
                <a:solidFill>
                  <a:srgbClr val="38BDF8"/>
                </a:solidFill>
                <a:latin typeface="JetBrains Mono"/>
              </a:rPr>
              <a:t>AS SELECT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* </a:t>
            </a:r>
            <a:r>
              <a:rPr b="1" sz="1050" i="0" u="none">
                <a:solidFill>
                  <a:srgbClr val="38BDF8"/>
                </a:solidFill>
                <a:latin typeface="JetBrains Mono"/>
              </a:rPr>
              <a:t>FROM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raw_sales_stream;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-- Atomic metadata swap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38BDF8"/>
                </a:solidFill>
                <a:latin typeface="JetBrains Mono"/>
              </a:rPr>
              <a:t>ALTER TABLE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core_sales </a:t>
            </a:r>
            <a:r>
              <a:rPr b="1" sz="1050" i="0" u="none">
                <a:solidFill>
                  <a:srgbClr val="38BDF8"/>
                </a:solidFill>
                <a:latin typeface="JetBrains Mono"/>
              </a:rPr>
              <a:t>SWAP WITH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core_sales_stage;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-- Clean up old dataset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1" sz="1050" i="0" u="none">
                <a:solidFill>
                  <a:srgbClr val="38BDF8"/>
                </a:solidFill>
                <a:latin typeface="JetBrains Mono"/>
              </a:rPr>
              <a:t>DROP TABLE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core_sales_stage;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3348037"/>
            <a:ext cx="483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Instantaneous Metadata Exchange: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Atomically swaps data pointers and metadata without data movement.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881437"/>
            <a:ext cx="483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Uninterrupted Analytical Queries: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Running SELECT queries against target table finish seamlessly.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4414837"/>
            <a:ext cx="483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Preserves Stream References: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Snowflake Streams reference underlying table IDs and remain valid.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0825"/>
            <a:ext cx="5686425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00825" y="2690812"/>
            <a:ext cx="4981575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00825" y="3976687"/>
            <a:ext cx="4981575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METADATA-ONLY COPIES &amp;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Zero-Copy Cloning &amp; Point-in-Time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328" y="3143250"/>
            <a:ext cx="6226968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284C7"/>
                </a:solidFill>
                <a:latin typeface="Inter"/>
              </a:rPr>
              <a:t>0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328" y="4019550"/>
            <a:ext cx="6226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Initial Storage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328" y="4295775"/>
            <a:ext cx="622696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Cloning duplicates metadata micro-partition pointers without physical data duplication.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8950" y="2928937"/>
            <a:ext cx="5353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Dev/Test Environment Provisioning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8950" y="3224212"/>
            <a:ext cx="46005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Instantaneous sandbox table creation from production tables without data transfer fees.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8950" y="4214812"/>
            <a:ext cx="53530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Point-in-Time Table Restoration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8950" y="4510087"/>
            <a:ext cx="46005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Restores table state prior to bad ETL jobs using AT or BEFORE Time Travel statements.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95612"/>
            <a:ext cx="5334000" cy="17716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3071812"/>
            <a:ext cx="5334000" cy="1619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95612"/>
            <a:ext cx="38100" cy="17716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3071812"/>
            <a:ext cx="38100" cy="16192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PHYSICAL STORAGE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Micro-Partition Clustering &amp; Pruning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62312"/>
            <a:ext cx="62507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Clustering Key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4737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Target multi-terabyte tables filtering frequently on specific dimensions (e.g., event_date, region_id).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95762"/>
            <a:ext cx="4857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Rule:</a:t>
            </a:r>
            <a:r>
              <a:rPr b="1" sz="975" i="0" u="none">
                <a:solidFill>
                  <a:srgbClr val="0284C7"/>
                </a:solidFill>
                <a:latin typeface="Inter"/>
              </a:rPr>
              <a:t> Avoid clustering small tables (&lt; 1 TB) due to re-clustering maintenance costs.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338512"/>
            <a:ext cx="56388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Clustering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690937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Evaluate partition overlap using system functions to verify partition pruning effectiveness.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271962"/>
            <a:ext cx="5638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Command:</a:t>
            </a:r>
            <a:r>
              <a:rPr b="1" sz="975" i="0" u="none">
                <a:solidFill>
                  <a:srgbClr val="0F172A"/>
                </a:solidFill>
                <a:latin typeface="Inter"/>
              </a:rPr>
              <a:t> SELECT SYSTEM$CLUSTERING_INFORMATION('my_table');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2712"/>
            <a:ext cx="109728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310062"/>
            <a:ext cx="10972800" cy="800100"/>
          </a:xfrm>
          <a:prstGeom prst="roundRect">
            <a:avLst>
              <a:gd name="adj" fmla="val 1190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86487" y="3062287"/>
            <a:ext cx="9525" cy="571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4595812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COST &amp; DISASTER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Storage Retention &amp; Fail-safe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4510087"/>
            <a:ext cx="10210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1E3A8A"/>
                </a:solidFill>
                <a:latin typeface="Inter"/>
              </a:rPr>
              <a:t>Exam Invariant:</a:t>
            </a:r>
            <a:r>
              <a:rPr b="0" sz="1125" i="0" u="none">
                <a:solidFill>
                  <a:srgbClr val="1E3A8A"/>
                </a:solidFill>
                <a:latin typeface="Inter"/>
              </a:rPr>
              <a:t> Transient and Temporary tables completely bypass Fail-safe storage fees. Dropping a Transient schema removes Fail-safe costs for all contained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1371" y="2967037"/>
            <a:ext cx="3345656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Inter"/>
              </a:rPr>
              <a:t>0 –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1371" y="3567112"/>
            <a:ext cx="3345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Time Travel Window (User Configurable)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9284" y="2967037"/>
            <a:ext cx="3107531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Inter"/>
              </a:rPr>
              <a:t>7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9284" y="3567112"/>
            <a:ext cx="3107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Inter"/>
              </a:rPr>
              <a:t>Fail-safe Window (Non-Configurable)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6987"/>
            <a:ext cx="3505200" cy="2667000"/>
          </a:xfrm>
          <a:prstGeom prst="roundRect">
            <a:avLst>
              <a:gd name="adj" fmla="val 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566987"/>
            <a:ext cx="3505200" cy="2667000"/>
          </a:xfrm>
          <a:prstGeom prst="roundRect">
            <a:avLst>
              <a:gd name="adj" fmla="val 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66987"/>
            <a:ext cx="3505200" cy="2667000"/>
          </a:xfrm>
          <a:prstGeom prst="roundRect">
            <a:avLst>
              <a:gd name="adj" fmla="val 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DDL &amp; INGESTION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Schema Evolution &amp; Column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833687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Column Alterations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167062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Varchars can be expanded in length. Column type conversions or length decreases require full table rewrites.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2833687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Constraint 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167062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Only NOT NULL constraints are enforced at runtime. Primary, Foreign, and Unique keys serve as declarative metadata.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2833687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Automated Ingestion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167062"/>
            <a:ext cx="30670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ENABLE_SCHEMA_EVOLUTION = TRUE automatically appends new columns during Snowpipe continuous loading.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1800"/>
            <a:ext cx="5334000" cy="1819275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81312"/>
            <a:ext cx="53340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TRANSFORMATION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Dynamic Tables vs. Materialized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86125"/>
            <a:ext cx="61757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Dynamic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195637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Materialized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05225"/>
            <a:ext cx="5881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Declarative Pipelines: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Defined using TARGET_LAG scheduling.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000500"/>
            <a:ext cx="5881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Complex SQL: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Full support for JOINs, CTEs, and aggregations.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295775"/>
            <a:ext cx="5881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Pipeline Orchestration: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Replaces complex Task and Stream pairs.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614737"/>
            <a:ext cx="5629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Single-Table Scope: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Projections restricted to single tables.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910012"/>
            <a:ext cx="4800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Query Acceleration: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Automatically maintained for background pruning.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386262"/>
            <a:ext cx="5629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Restricted SQL: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No JOINs or complex window functions allowed.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33750"/>
            <a:ext cx="353064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333750"/>
            <a:ext cx="353064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333750"/>
            <a:ext cx="353064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ACCESS CONTROL &amp; PRIVILEGES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7627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RBAC &amp; Table Object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571875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Fine-Grained DML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67150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Grant explicit privileges: SELECT, INSERT, UPDATE, DELETE, and TRUNCATE.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874" y="3571875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Future Grants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874" y="3867150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GRANT SELECT ON FUTURE TABLES IN SCHEMA for automated pipeline security.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0024" y="3571875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Ownership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0024" y="3867150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TRANSFER OWNERSHIP controls schema DDL rights during CI/CD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67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7433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4196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97167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DEA-C02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95525"/>
            <a:ext cx="114300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us Jakarta Sans"/>
              </a:rPr>
              <a:t>Key Exam Table Management Invariants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3067050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048000"/>
            <a:ext cx="8248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Object ID Persistence: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Snowflake Streams reference underlying table IDs, not object names. Swapping tables retains stream tracking uninterrupted.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374332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724275"/>
            <a:ext cx="8248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Transient Precedence: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Transient schemas suppress Fail-safe storage fees even if internal tables were initially defined as Permanent.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4419600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4400550"/>
            <a:ext cx="82486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CBD5E1"/>
                </a:solidFill>
                <a:latin typeface="Inter"/>
              </a:rPr>
              <a:t>Zero-Copy Storage Mechanics:</a:t>
            </a:r>
            <a:r>
              <a:rPr b="0" sz="1275" i="0" u="none">
                <a:solidFill>
                  <a:srgbClr val="CBD5E1"/>
                </a:solidFill>
                <a:latin typeface="Inter"/>
              </a:rPr>
              <a:t> Cloned tables only incur new storage fees when modified partitions diverge from the original snapshot.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