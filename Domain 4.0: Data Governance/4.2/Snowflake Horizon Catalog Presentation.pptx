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Space Grotesk"/>
      <ns0:bold ns1:id="rIdFont21"/>
    </ns0:embeddedFont>
    <ns0:embeddedFont>
      <ns0:font typeface="Plus Jakarta Sans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99752fc6-ea91-424c-9c42-c15b21cb25f3.fntdata" /><ns0:Relationship Id="rIdFont22" Type="http://schemas.openxmlformats.org/officeDocument/2006/relationships/font" Target="fonts/b71d0611-6de5-4253-bf70-ddd805a03fc5.fntdata" /><ns0:Relationship Id="rIdFont23" Type="http://schemas.openxmlformats.org/officeDocument/2006/relationships/font" Target="fonts/0abd79cd-bc4d-4bd1-96f5-1fe815e16c0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1573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04169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937569"/>
            <a:ext cx="90261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Space Grotesk"/>
              </a:rPr>
              <a:t>Snowflake Horizon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41390"/>
            <a:ext cx="8405812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Universal Data Governance, Discovery, and Context for Enterprise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2456557"/>
            <a:ext cx="3036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SNOWFLAKE AI DATA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55737"/>
            <a:ext cx="5286375" cy="1217116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63354"/>
            <a:ext cx="5286375" cy="1217116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70970"/>
            <a:ext cx="5286375" cy="1217116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871662"/>
            <a:ext cx="530542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81187"/>
            <a:ext cx="528637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13196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539579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947195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Platform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Snowflake Horizon Catalog?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093862"/>
            <a:ext cx="6313289" cy="23812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Unified Metadata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408187"/>
            <a:ext cx="49053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Single governance interface across internal data, external Iceberg tables, and AI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01479"/>
            <a:ext cx="6313289" cy="238125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Agentic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15804"/>
            <a:ext cx="49053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Automated context generation and security guardrails for autonomous AI workloads.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909095"/>
            <a:ext cx="6313289" cy="238125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Cross-Engine Policy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223420"/>
            <a:ext cx="49053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Policies execute directly at the storage and query engine layers without app-level duplication.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748" y="3014662"/>
            <a:ext cx="207258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729" y="3014662"/>
            <a:ext cx="2072580" cy="1752600"/>
          </a:xfrm>
          <a:prstGeom prst="roundRect">
            <a:avLst>
              <a:gd name="adj" fmla="val 6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709" y="3105150"/>
            <a:ext cx="207258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690" y="3105150"/>
            <a:ext cx="207258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670" y="3105150"/>
            <a:ext cx="2072580" cy="1571625"/>
          </a:xfrm>
          <a:prstGeom prst="roundRect">
            <a:avLst>
              <a:gd name="adj" fmla="val 727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748" y="301466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729" y="3014662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9709" y="310515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84690" y="310515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670" y="3105150"/>
            <a:ext cx="207258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48" y="3281362"/>
            <a:ext cx="20002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329" y="3281362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309" y="3371850"/>
            <a:ext cx="333375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3290" y="3371850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270" y="3371850"/>
            <a:ext cx="3048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Architecture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5 Core Governance Pillars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348" y="3700462"/>
            <a:ext cx="21201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348" y="3995737"/>
            <a:ext cx="171063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Data Quality Functions &amp; Visual Lineage Tracking.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329" y="3700462"/>
            <a:ext cx="21201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329" y="3995737"/>
            <a:ext cx="171063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RBAC, Encryption &amp; Trust Center Risk Scans.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8309" y="3790950"/>
            <a:ext cx="21201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8309" y="4086225"/>
            <a:ext cx="171063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Dynamic Masking &amp; Data Clean Rooms.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3290" y="3790950"/>
            <a:ext cx="21201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290" y="4086225"/>
            <a:ext cx="171063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Object Tagging &amp; Universal Data Search.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270" y="3790950"/>
            <a:ext cx="212018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Interoperability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270" y="4086225"/>
            <a:ext cx="171063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Apache Iceberg &amp; Open REST Cataloging.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09775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19625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871662"/>
            <a:ext cx="530542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81187"/>
            <a:ext cx="528637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286000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590925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895850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AI &amp; Context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Horizon Context: Governed AI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247900"/>
            <a:ext cx="6313289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Cortex Auto-Descriptions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24125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LLM-generated metadata comments for tables and columns using sample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52825"/>
            <a:ext cx="6313289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Semantic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29050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Business-aligned definitions built for AI agents and BI tool comprehension.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57750"/>
            <a:ext cx="6313289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Cortex AI 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133975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Automatic detection and redaction of PII/PHI in autonomous agent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309812"/>
            <a:ext cx="5286375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414712"/>
            <a:ext cx="5286375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4519612"/>
            <a:ext cx="5286375" cy="9144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96025" y="2309812"/>
            <a:ext cx="38100" cy="914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96025" y="3414712"/>
            <a:ext cx="38100" cy="914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4519612"/>
            <a:ext cx="38100" cy="914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71662"/>
            <a:ext cx="53054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81187"/>
            <a:ext cx="5286375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Granular Access Controls &amp; Masking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53841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Dynamic Data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814637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Tag-based rules obscure sensitive values based on active user roles.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64331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Row Access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919537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Filters unauthorized rows dynamically during query processing.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748212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Automated Data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5024437"/>
            <a:ext cx="56292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Identifies and labels PII automatically as schema changes occur.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09775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4700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19625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871662"/>
            <a:ext cx="530542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81187"/>
            <a:ext cx="528637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286000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590925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895850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Asset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Universal Catalog &amp; Internal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247900"/>
            <a:ext cx="6313289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Multi-Layered Asset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524125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Find tables, columns, AI models, and dashboards in Snowsight instantly.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552825"/>
            <a:ext cx="6313289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Internal Data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829050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Publish and consume curated data products across business units safely.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857750"/>
            <a:ext cx="6313289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Object Tagging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133975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Consistent taxonomy across databases, external locations, and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038350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324225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4610100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96025" y="2038350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96025" y="3324225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4610100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71662"/>
            <a:ext cx="53054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81187"/>
            <a:ext cx="5286375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Continuous Data Quality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2669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Metric Functions (DMFs)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54317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System and custom metrics evaluate freshness, accuracy, and uniqueness.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55282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Near-Real-Time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829050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Automated notifications flag quality threshold breaches before pipeline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83870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Root Cause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511492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Correlates metric anomalies with upstream query changes and schema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00262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05187"/>
            <a:ext cx="5286375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29137"/>
            <a:ext cx="5286375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871662"/>
            <a:ext cx="530542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81187"/>
            <a:ext cx="5286375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376487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681412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4805362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Impact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Visual Lineage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338387"/>
            <a:ext cx="6313289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Column-Level Lineage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614612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Trace data origins down to individual attributes across transformation layers.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643312"/>
            <a:ext cx="6313289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OpenLineage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919537"/>
            <a:ext cx="6012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Extends tracking to external databases, ETL tools, and BI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767262"/>
            <a:ext cx="6313289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AI &amp; Model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043487"/>
            <a:ext cx="490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Connect model predictions back to original training datasets for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038350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324225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4610100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96025" y="2038350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96025" y="3324225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4610100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71662"/>
            <a:ext cx="53054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81187"/>
            <a:ext cx="5286375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Open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Apache Iceberg &amp; Cross-Engine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26695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Polaris &amp; REST Catalog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54317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Governs external Iceberg tables across AWS Glue, Azure OneLake, and custom catalogs.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552825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Engine Independence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829050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Read and write Iceberg data using Spark, Flink, or Trino under Horizon security policies.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838700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Zero Vendor Lock-In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511492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Open table specifications maintain governance integrity across multi-cloud infrastructure.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1800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71800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71800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286125"/>
            <a:ext cx="342900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687" y="3286125"/>
            <a:ext cx="4286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3286125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Security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Trust Center &amp; Continuous Auditing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51" y="3781425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CIS Benchmark Scans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106" y="4095750"/>
            <a:ext cx="37861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Evaluates account configurations against industry security standards continuously.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8251" y="3781425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Misconfiguration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2906" y="4095750"/>
            <a:ext cx="37861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Detects overly permissive roles, unmasked columns, and MFA compliance gaps.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2051" y="3781425"/>
            <a:ext cx="397549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Access History Auditing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6706" y="4095750"/>
            <a:ext cx="37861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Monitors query activity, user sessions, and table state changes via Time Travel.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38350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24225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10100"/>
            <a:ext cx="5286375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038350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324225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10100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871662"/>
            <a:ext cx="53054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81187"/>
            <a:ext cx="5286375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Secure Collaboration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Data Clean Rooms &amp; Privacy 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266950"/>
            <a:ext cx="628828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 Clean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54317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Collaborate with partners without revealing raw customer records or PII.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52825"/>
            <a:ext cx="628828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Projection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29050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Prevents direct joins on identifier columns while allowing aggregate analytics.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38700"/>
            <a:ext cx="628828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Differential Privacy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14925"/>
            <a:ext cx="488632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Injects calibrated noise to prevent individual identification in query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1737" y="4595812"/>
            <a:ext cx="2324100" cy="428625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48237" y="4595812"/>
            <a:ext cx="2257425" cy="428625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58062" y="4595812"/>
            <a:ext cx="2362200" cy="428625"/>
          </a:xfrm>
          <a:prstGeom prst="roundRect">
            <a:avLst>
              <a:gd name="adj" fmla="val 50000"/>
            </a:avLst>
          </a:prstGeom>
          <a:solidFill>
            <a:srgbClr val="10243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975" y="1833562"/>
            <a:ext cx="4000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75" y="2519362"/>
            <a:ext cx="100012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FFFFFF"/>
                </a:solidFill>
                <a:latin typeface="Space Grotesk"/>
              </a:rPr>
              <a:t>The Foundation for Governed Enterprise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643312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Snowflake Horizon Catalog provides built-in compliance, security, privacy, and discovery across your entire enterprise data estate.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7925" y="4710112"/>
            <a:ext cx="23717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100% Native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759" y="4710112"/>
            <a:ext cx="228838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Open Iceberg Standards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9487" y="4710112"/>
            <a:ext cx="2419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Autonomous AI Guardrails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71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9433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05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705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470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8622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5775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https://www.snowflake.com/content/dam/snowflake-site/developers/guides/getting-started-with-horizon-for-data-governance-in-snowflake/workflow.png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238250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www.snowflake.com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809750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https://storage.ghost.io/c/da/45/da455db8-c065-4266-9980-0b790bd9cf30/content/images/size/w2000/2025/06/AIDP-Cover-Vol2-Issue-2.png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009775"/>
            <a:ext cx="2428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www.claritasgrc.ai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581275"/>
            <a:ext cx="8060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https://www.ovaledge.com/hubfs/Ovaledge%20Banner%20Blog%20-%202026-02-18T150512.865.png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781300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www.ovaledge.com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352800"/>
            <a:ext cx="7250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https://montecarlo.ai/wp-content/uploads/2022/12/Ataccama-data-catalog-1-1024x583.webp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552825"/>
            <a:ext cx="200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montecarlo.ai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124325"/>
            <a:ext cx="6191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https://montecarlo.ai/wp-content/uploads/2024/09/data-quality-dashboard.png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324350"/>
            <a:ext cx="200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montecarlo.ai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4895850"/>
            <a:ext cx="6774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https://qlikviewcookbook.com/wp-content/uploads/2018/04/1-Dashboard-Lineage.png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095875"/>
            <a:ext cx="2905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qlikviewcookbook.com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8131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https://www.kai-waehner.de/wp-content/uploads/2024/07/Thumbnail___Master_Template_643_x_483.png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www.kai-waehner.de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https://www.snowflake.com/adobe/dynamicmedia/deliver/dm-aid--571733db-a787-4e40-88d2-76bd699aab6a/platform-diagram-feb26.png?preferwebp=true&amp;quality=85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2407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www.snowflake.com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