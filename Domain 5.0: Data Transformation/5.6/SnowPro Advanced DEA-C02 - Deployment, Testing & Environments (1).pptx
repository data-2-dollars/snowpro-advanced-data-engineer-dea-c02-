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JetBrains Mono"/>
      <ns0:bold ns1:id="rIdFont20"/>
      <ns0:regular ns1:id="rIdFont21"/>
    </ns0:embeddedFont>
    <ns0:embeddedFont>
      <ns0:font typeface="Inter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d47dbeca-dfb0-4aea-a798-17daee9c3e28.fntdata" /><ns0:Relationship Id="rIdFont21" Type="http://schemas.openxmlformats.org/officeDocument/2006/relationships/font" Target="fonts/ac9441bf-d038-4756-bae7-c7cf13345965.fntdata" /><ns0:Relationship Id="rIdFont22" Type="http://schemas.openxmlformats.org/officeDocument/2006/relationships/font" Target="fonts/33267eb4-abdd-4035-836f-27fc466cc3bf.fntdata" /><ns0:Relationship Id="rIdFont23" Type="http://schemas.openxmlformats.org/officeDocument/2006/relationships/font" Target="fonts/3bfc9637-b889-41e2-890a-ad64c6a0b71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370040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7004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21209"/>
            <a:ext cx="23812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087909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Inter"/>
              </a:rPr>
              <a:t>Code Deployment, Testing &amp; Environment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17540"/>
            <a:ext cx="6953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Architecting enterprise CI/CD pipelines, automated validation frameworks, and multi-environment isolation in Snowflake.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1859309"/>
            <a:ext cx="5738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SNOWPRO® ADVANCED: DATA ENGINEER (DEA-C02)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646265"/>
            <a:ext cx="3178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EXAM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846290"/>
            <a:ext cx="3178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Inter"/>
              </a:rPr>
              <a:t>5.6 Code &amp; Workflow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7575" y="4646265"/>
            <a:ext cx="3048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TARGET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7575" y="484629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Inter"/>
              </a:rPr>
              <a:t>Advanced Production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775" y="4646265"/>
            <a:ext cx="3559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PLATFORM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775" y="4846290"/>
            <a:ext cx="3559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Inter"/>
              </a:rPr>
              <a:t>Snowflake Native Tooling &amp;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38412"/>
            <a:ext cx="3505200" cy="278130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52712"/>
            <a:ext cx="3505200" cy="255270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52712"/>
            <a:ext cx="3505200" cy="255270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527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9670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9670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037" y="2976562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550" y="3090862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1062" y="3090862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DEA-C02 OBJECTIVE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Three Pillars of Enterprise Data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500437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1. Deployment Pipelines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862387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Declarative schema migration with Schemachange and dbt. Native Git integration for automated deployment pipelines via GitHub Actions and SnowSQL.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614737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2. Testing Frameworks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976687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Automated assertions via native Data Quality Metrics, PyTest for Snowpark, pre/post execution hooks, and real-time alert integrations.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614737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3. Environment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976687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Zero-Copy Cloning for dev/test environments, database vs account-level separation, and environment-scoped RBAC privilege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05575" y="1766887"/>
            <a:ext cx="5076825" cy="4286250"/>
          </a:xfrm>
          <a:prstGeom prst="roundRect">
            <a:avLst>
              <a:gd name="adj" fmla="val 355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190750"/>
            <a:ext cx="5553075" cy="1019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400425"/>
            <a:ext cx="5553075" cy="1019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610100"/>
            <a:ext cx="5553075" cy="1019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190750"/>
            <a:ext cx="38100" cy="1019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400425"/>
            <a:ext cx="38100" cy="1019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610100"/>
            <a:ext cx="38100" cy="1019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66825" y="2828925"/>
            <a:ext cx="1714500" cy="209550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VERSION CONTROL IN SNOWFLAKE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Native Snowflake Git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2033587"/>
            <a:ext cx="4638675" cy="3752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43F5E"/>
                </a:solidFill>
                <a:latin typeface="Inter"/>
              </a:rPr>
              <a:t>CREATE SECRET</a:t>
            </a:r>
            <a:r>
              <a:rPr b="1" sz="1125" i="0" u="none">
                <a:solidFill>
                  <a:srgbClr val="E2E8F0"/>
                </a:solidFill>
                <a:latin typeface="Inter"/>
              </a:rPr>
              <a:t> git_pat_secret TYPE = PASSWORD USERNAME = 'git_service_user' SECRET_STRING = 'ghp_xxxxxx'; </a:t>
            </a:r>
            <a:r>
              <a:rPr b="1" sz="1125" i="0" u="none">
                <a:solidFill>
                  <a:srgbClr val="F43F5E"/>
                </a:solidFill>
                <a:latin typeface="Inter"/>
              </a:rPr>
              <a:t>CREATE API INTEGRATION</a:t>
            </a:r>
            <a:r>
              <a:rPr b="1" sz="1125" i="0" u="none">
                <a:solidFill>
                  <a:srgbClr val="E2E8F0"/>
                </a:solidFill>
                <a:latin typeface="Inter"/>
              </a:rPr>
              <a:t> git_api_int API_PROVIDER = git_https_api API_ALLOWED_PREFIXES = ('https://github.com/org/') ENABLED = TRUE; </a:t>
            </a:r>
            <a:r>
              <a:rPr b="1" sz="1125" i="0" u="none">
                <a:solidFill>
                  <a:srgbClr val="F43F5E"/>
                </a:solidFill>
                <a:latin typeface="Inter"/>
              </a:rPr>
              <a:t>CREATE GIT REPOSITORY</a:t>
            </a:r>
            <a:r>
              <a:rPr b="1" sz="1125" i="0" u="none">
                <a:solidFill>
                  <a:srgbClr val="E2E8F0"/>
                </a:solidFill>
                <a:latin typeface="Inter"/>
              </a:rPr>
              <a:t> my_snow_repo API_INTEGRATION = git_api_int GIT_CREDENTIALS = git_pat_secret ORIGIN = 'https://github.com/org/repo.git';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275" y="2033587"/>
            <a:ext cx="5419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// Snowflake DDL Syntax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2275" y="2357437"/>
            <a:ext cx="4638675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43F5E"/>
                </a:solidFill>
                <a:latin typeface="JetBrains Mono"/>
              </a:rPr>
              <a:t>CREATE SECRET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git_pat_secret TYPE = PASSWORD USERNAME = 'git_service_user' SECRET_STRING = 'ghp_xxxxxx'; 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CREATE API INTEGRATION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git_api_int API_PROVIDER = git_https_api API_ALLOWED_PREFIXES = ('https://github.com/org/') ENABLED = TRUE; 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CREATE GIT REPOSITORY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my_snow_repo API_INTEGRATION = git_api_int GIT_CREDENTIALS = git_pat_secret ORIGIN = 'https://github.com/org/repo.git';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381250"/>
            <a:ext cx="673834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First-Class Database Object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38425"/>
            <a:ext cx="52292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Connect remote GitHub, GitLab, or Azure DevOps repositories directly using 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590925"/>
            <a:ext cx="673834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Secret &amp; API Integration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848100"/>
            <a:ext cx="52292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Secure git authentication using Snowflake API Integrations paired with Personal Access Token (PAT) Secret objects.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800600"/>
            <a:ext cx="673834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Direct Snowsight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5057775"/>
            <a:ext cx="52292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Execute SQL scripts, Snowpark Python code, and Streamlit apps directly from fetched Git repository branches.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3975" y="2847975"/>
            <a:ext cx="1695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CREATE GIT REPOSITORY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09019"/>
            <a:ext cx="2386012" cy="1640085"/>
          </a:xfrm>
          <a:prstGeom prst="roundRect">
            <a:avLst>
              <a:gd name="adj" fmla="val 69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1862" y="3009900"/>
            <a:ext cx="2386012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34125" y="3009007"/>
            <a:ext cx="2386012" cy="1840110"/>
          </a:xfrm>
          <a:prstGeom prst="roundRect">
            <a:avLst>
              <a:gd name="adj" fmla="val 62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96387" y="3009900"/>
            <a:ext cx="2386012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3833812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833812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537" y="3833812"/>
            <a:ext cx="1714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DEPLOYMENT PIPELINES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Schemachange &amp; Automated CI/CD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347144"/>
            <a:ext cx="23872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32894"/>
            <a:ext cx="250656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Version Scripting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909119"/>
            <a:ext cx="2005012" cy="601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Author versioned SQL scripts using strict naming: </a:t>
            </a:r>
            <a:r>
              <a:rPr b="0" sz="975" i="0" u="none">
                <a:solidFill>
                  <a:srgbClr val="0284C7"/>
                </a:solidFill>
                <a:latin typeface="Inter"/>
              </a:rPr>
              <a:t>V1.1.2__add_table.sql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9987" y="3248025"/>
            <a:ext cx="23872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9987" y="3533775"/>
            <a:ext cx="250656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9987" y="3810000"/>
            <a:ext cx="2005012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Trigger CI pipeline to dry-run SQL linting and check DDL syntax against ephemeral clone.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3247132"/>
            <a:ext cx="23872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3532882"/>
            <a:ext cx="250656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Change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0" y="3809107"/>
            <a:ext cx="2005012" cy="801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Schemachange records script checksums inside target </a:t>
            </a:r>
            <a:r>
              <a:rPr b="0" sz="975" i="0" u="none">
                <a:solidFill>
                  <a:srgbClr val="0284C7"/>
                </a:solidFill>
                <a:latin typeface="Inter"/>
              </a:rPr>
              <a:t>CHANGE_HISTORY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table.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4512" y="3248025"/>
            <a:ext cx="23872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4512" y="3533775"/>
            <a:ext cx="250656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Prod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4512" y="3810000"/>
            <a:ext cx="2005012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Automated deployment via SnowSQL / Python API applying only unapplied version scripts.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5087"/>
            <a:ext cx="5205858" cy="2533650"/>
          </a:xfrm>
          <a:prstGeom prst="roundRect">
            <a:avLst>
              <a:gd name="adj" fmla="val 75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72658" y="2566987"/>
            <a:ext cx="5309741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72658" y="3967162"/>
            <a:ext cx="5309741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ENVIRONMENT STAGING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Zero-Copy Cloning for Testing &amp;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023" y="2995612"/>
            <a:ext cx="5531011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0284C7"/>
                </a:solidFill>
                <a:latin typeface="Inter"/>
              </a:rPr>
              <a:t>0 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023" y="4062412"/>
            <a:ext cx="553101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Additional Storage Overhead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023" y="4367212"/>
            <a:ext cx="5531011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Instant production database copies generated at metadata pointer layer.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783" y="2805112"/>
            <a:ext cx="568121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Point-in-Time Deployment Sandbox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783" y="3081337"/>
            <a:ext cx="49287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Combine </a:t>
            </a:r>
            <a:r>
              <a:rPr b="0" sz="1050" i="0" u="none">
                <a:solidFill>
                  <a:srgbClr val="0284C7"/>
                </a:solidFill>
                <a:latin typeface="Inter"/>
              </a:rPr>
              <a:t>CLONE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with </a:t>
            </a:r>
            <a:r>
              <a:rPr b="0" sz="1050" i="0" u="none">
                <a:solidFill>
                  <a:srgbClr val="0284C7"/>
                </a:solidFill>
                <a:latin typeface="Inter"/>
              </a:rPr>
              <a:t>AT / BEFORE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Time Travel to test schema upgrades against historic production states.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783" y="4205287"/>
            <a:ext cx="568121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Ephemeral CI Test Environments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783" y="4481512"/>
            <a:ext cx="49287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Spin up dynamic staging databases for full pipeline test runs during PR execution and drop them immediately post-validation.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76975" y="2209800"/>
            <a:ext cx="5305425" cy="1019175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76975" y="3381375"/>
            <a:ext cx="5305425" cy="1019175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76975" y="4552950"/>
            <a:ext cx="5305425" cy="1019175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1212"/>
            <a:ext cx="5324475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090737"/>
            <a:ext cx="5305425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QUALITY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Testing &amp; Validation Framework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2409825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1. Native Data Quality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667000"/>
            <a:ext cx="50006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Snowflake native functions for NULL monitoring, uniqueness checking, and row-count drift tracking without external compute.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581400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2. dbt Test Assertions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838575"/>
            <a:ext cx="50006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Schema validations (</a:t>
            </a:r>
            <a:r>
              <a:rPr b="0" sz="975" i="0" u="none">
                <a:solidFill>
                  <a:srgbClr val="0284C7"/>
                </a:solidFill>
                <a:latin typeface="Inter"/>
              </a:rPr>
              <a:t>not_null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, </a:t>
            </a:r>
            <a:r>
              <a:rPr b="0" sz="975" i="0" u="none">
                <a:solidFill>
                  <a:srgbClr val="0284C7"/>
                </a:solidFill>
                <a:latin typeface="Inter"/>
              </a:rPr>
              <a:t>unique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, </a:t>
            </a:r>
            <a:r>
              <a:rPr b="0" sz="975" i="0" u="none">
                <a:solidFill>
                  <a:srgbClr val="0284C7"/>
                </a:solidFill>
                <a:latin typeface="Inter"/>
              </a:rPr>
              <a:t>relationships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) integrated into Snowflake dbt Project executions.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4752975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3. Snowpark PyTest Unit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5010150"/>
            <a:ext cx="50006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Unit test Snowpark Python DataFrames, UDFs, and Stored Procedures locally using mocking frameworks before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995612"/>
            <a:ext cx="3505200" cy="1866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43400" y="2995612"/>
            <a:ext cx="3505200" cy="1866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7200" y="2995612"/>
            <a:ext cx="3505200" cy="1866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95612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995612"/>
            <a:ext cx="35052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995612"/>
            <a:ext cx="3505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29050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305300"/>
            <a:ext cx="114300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829050"/>
            <a:ext cx="11430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4305300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829050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4305300"/>
            <a:ext cx="114300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EXECUTION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In-Pipeline Validation Gates &amp; Hooks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38512"/>
            <a:ext cx="38004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Pre-Execution Hooks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3338512"/>
            <a:ext cx="38004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In-Pipeline Asserts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3338512"/>
            <a:ext cx="38004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Post-Hook Audits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" y="3719512"/>
            <a:ext cx="2800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Stage File Check:</a:t>
            </a:r>
            <a:r>
              <a:rPr b="1" sz="1050" i="0" u="none">
                <a:solidFill>
                  <a:srgbClr val="0284C7"/>
                </a:solidFill>
                <a:latin typeface="Inter"/>
              </a:rPr>
              <a:t> INFER_SCHEMA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4195762"/>
            <a:ext cx="2800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Duplicate Guard:</a:t>
            </a:r>
            <a:r>
              <a:rPr b="1" sz="1050" i="0" u="none">
                <a:solidFill>
                  <a:srgbClr val="0284C7"/>
                </a:solidFill>
                <a:latin typeface="Inter"/>
              </a:rPr>
              <a:t> Pre-load hash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8700" y="3719512"/>
            <a:ext cx="2800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Threshold Gate:</a:t>
            </a:r>
            <a:r>
              <a:rPr b="1" sz="1050" i="0" u="none">
                <a:solidFill>
                  <a:srgbClr val="16A34A"/>
                </a:solidFill>
                <a:latin typeface="Inter"/>
              </a:rPr>
              <a:t> Max allowed bad record limit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38700" y="4195762"/>
            <a:ext cx="2800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Stream Validation:</a:t>
            </a:r>
            <a:r>
              <a:rPr b="1" sz="1050" i="0" u="none">
                <a:solidFill>
                  <a:srgbClr val="16A34A"/>
                </a:solidFill>
                <a:latin typeface="Inter"/>
              </a:rPr>
              <a:t> SYSTEM$STREAM_HAS_DATA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0" y="3719512"/>
            <a:ext cx="2800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Telemetry Log:</a:t>
            </a:r>
            <a:r>
              <a:rPr b="1" sz="1050" i="0" u="none">
                <a:solidFill>
                  <a:srgbClr val="D97706"/>
                </a:solidFill>
                <a:latin typeface="Inter"/>
              </a:rPr>
              <a:t> Write metrics to audit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0" y="4195762"/>
            <a:ext cx="2800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Alert Trigger:</a:t>
            </a:r>
            <a:r>
              <a:rPr b="1" sz="1050" i="0" u="none">
                <a:solidFill>
                  <a:srgbClr val="D97706"/>
                </a:solidFill>
                <a:latin typeface="Inter"/>
              </a:rPr>
              <a:t> Snowflake Alerts + Email/Webhook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9875"/>
            <a:ext cx="5334000" cy="2200275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09875"/>
            <a:ext cx="5334000" cy="2200275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925" y="4076700"/>
            <a:ext cx="470535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62725" y="4076700"/>
            <a:ext cx="470535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05325" y="3133725"/>
            <a:ext cx="112395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925" y="4076700"/>
            <a:ext cx="47053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10800" y="3133725"/>
            <a:ext cx="1057275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2725" y="4076700"/>
            <a:ext cx="47053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ARCHITECTURE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Environment Isolation Architecture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524250"/>
            <a:ext cx="48006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Separate </a:t>
            </a:r>
            <a:r>
              <a:rPr b="0" sz="975" i="0" u="none">
                <a:solidFill>
                  <a:srgbClr val="0284C7"/>
                </a:solidFill>
                <a:latin typeface="Inter"/>
              </a:rPr>
              <a:t>DEV_DB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, </a:t>
            </a:r>
            <a:r>
              <a:rPr b="0" sz="975" i="0" u="none">
                <a:solidFill>
                  <a:srgbClr val="0284C7"/>
                </a:solidFill>
                <a:latin typeface="Inter"/>
              </a:rPr>
              <a:t>TEST_DB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, and </a:t>
            </a:r>
            <a:r>
              <a:rPr b="0" sz="975" i="0" u="none">
                <a:solidFill>
                  <a:srgbClr val="0284C7"/>
                </a:solidFill>
                <a:latin typeface="Inter"/>
              </a:rPr>
              <a:t>PROD_DB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within one Snowflake account using RBAC.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524250"/>
            <a:ext cx="48006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Dedicated Snowflake accounts for DEV, TEST, and PROD managed under Snowflake Organizations.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124200"/>
            <a:ext cx="333791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Database-Level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575" y="3171825"/>
            <a:ext cx="1028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JetBrains Mono"/>
              </a:rPr>
              <a:t>SINGLE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238625"/>
            <a:ext cx="5881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Advantage: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Instant Zero-Copy Cloning across databases.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514850"/>
            <a:ext cx="5881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Cost: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Shared warehouse credit pool and account limits.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124200"/>
            <a:ext cx="3200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Account-Level Isolation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06050" y="3171825"/>
            <a:ext cx="962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MULTI ACCOUNT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4238625"/>
            <a:ext cx="56292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Advantage: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Strict physical security and resource isolation.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4514850"/>
            <a:ext cx="56292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Replication: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Requires Secure Data Sharing or Database Replication.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0862"/>
            <a:ext cx="2600325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990850"/>
            <a:ext cx="2600325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990850"/>
            <a:ext cx="2600325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90862"/>
            <a:ext cx="2600325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ACCESS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Role-Based Access Control Across Environments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32898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DEV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05212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DEV_DATA_ENGINEER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890962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Full DDL permissions in DEV databases. Read access to masked production clones.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228975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TEST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350520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CICD_SERVICE_ROLE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3790950"/>
            <a:ext cx="221932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Automated service account role. Executes deployment scripts and automated integration tests.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228975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PROD 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50520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PROD_DEPLOYER_ROLE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790950"/>
            <a:ext cx="221932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Strict pipeline deployment role. Engineers retain read-only metadata or masked access.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0200" y="332898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Data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605212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DYNAMIC MASKING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890962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Masking policies persist automatically onto cloned non-production datasets.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76975" y="2266950"/>
            <a:ext cx="5305425" cy="9810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76975" y="3400425"/>
            <a:ext cx="5305425" cy="9810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76975" y="4533900"/>
            <a:ext cx="5305425" cy="9810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76975" y="2266950"/>
            <a:ext cx="38100" cy="9810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76975" y="3400425"/>
            <a:ext cx="38100" cy="9810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6975" y="4533900"/>
            <a:ext cx="38100" cy="9810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1212"/>
            <a:ext cx="5324475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090737"/>
            <a:ext cx="5305425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END-TO-END PIPELINE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Automated Enterprise Data Pipeline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2457450"/>
            <a:ext cx="56864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Version-Controlled Artifacts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2695575"/>
            <a:ext cx="49815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SQL scripts, Snowpark Python UDFs, dbt models, and Streamlit code stored in Git.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3590925"/>
            <a:ext cx="56864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Automated CI Gateways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3829050"/>
            <a:ext cx="49815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PR triggers linting, SQL syntax verification, and Snowpark PyTest execution in isolated dynamic clones.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4724400"/>
            <a:ext cx="56864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Production CD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4962525"/>
            <a:ext cx="49815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Schemachange applies delta migrations; continuous tasks and dynamic tables resume seamlessly.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5125"/>
            <a:ext cx="2571750" cy="2009775"/>
          </a:xfrm>
          <a:prstGeom prst="roundRect">
            <a:avLst>
              <a:gd name="adj" fmla="val 75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904232"/>
            <a:ext cx="2571750" cy="201156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804219"/>
            <a:ext cx="2571750" cy="2211585"/>
          </a:xfrm>
          <a:prstGeom prst="roundRect">
            <a:avLst>
              <a:gd name="adj" fmla="val 68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905125"/>
            <a:ext cx="2571750" cy="2009775"/>
          </a:xfrm>
          <a:prstGeom prst="roundRect">
            <a:avLst>
              <a:gd name="adj" fmla="val 75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81350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75" y="318045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3080444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5" y="3181350"/>
            <a:ext cx="2000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EXAM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High-Frequency DEA-C02 Exam Test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562350"/>
            <a:ext cx="26503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Git Integration Objects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838575"/>
            <a:ext cx="21145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Know how API Integrations and Secret objects bind credentials to Git repository objects.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6175" y="3561457"/>
            <a:ext cx="26503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Clone &amp; Time Travel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6175" y="3837682"/>
            <a:ext cx="2114550" cy="801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Remember: Cloning preserves historical states using </a:t>
            </a:r>
            <a:r>
              <a:rPr b="0" sz="975" i="0" u="none">
                <a:solidFill>
                  <a:srgbClr val="0284C7"/>
                </a:solidFill>
                <a:latin typeface="Inter"/>
              </a:rPr>
              <a:t>AT / BEFORE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timestamps or query IDs.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461444"/>
            <a:ext cx="26503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Snowflake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737669"/>
            <a:ext cx="2114550" cy="1001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Understand condition-action pairs using </a:t>
            </a:r>
            <a:r>
              <a:rPr b="0" sz="975" i="0" u="none">
                <a:solidFill>
                  <a:srgbClr val="0284C7"/>
                </a:solidFill>
                <a:latin typeface="Inter"/>
              </a:rPr>
              <a:t>SYSTEM$SEND_EMAIL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for custom quality alert pipelines.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6875" y="3562350"/>
            <a:ext cx="26503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Change History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6875" y="3838575"/>
            <a:ext cx="21145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Identify Schemachange metadata tables used to prevent re-execution of applied SQL migrations.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95712" y="4867275"/>
            <a:ext cx="2009775" cy="381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57887" y="4867275"/>
            <a:ext cx="2438400" cy="381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609725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1762125"/>
            <a:ext cx="381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5375" y="2447925"/>
            <a:ext cx="100012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8FAFC"/>
                </a:solidFill>
                <a:latin typeface="Inter"/>
              </a:rPr>
              <a:t>Ready for SnowPro® Advanced: Data Engineer (DEA-C02)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7875" y="3629025"/>
            <a:ext cx="8096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Mastering deployment pipelines, data quality testing, and zero-copy environment strategies guarantees enterprise reliability and exam success.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4990" y="4962525"/>
            <a:ext cx="213121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JetBrains Mono"/>
              </a:rPr>
              <a:t>Domain 5.6 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587" y="4962525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JetBrains Mono"/>
              </a:rPr>
              <a:t>Snowflake Best Practices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3462"/>
            <a:ext cx="5869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https://montecarlo.ai/wp-content/uploads/2024/09/data-quality-dashboard.png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3487"/>
            <a:ext cx="1976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montecarlo.ai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4987"/>
            <a:ext cx="8262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https://media.geeksforgeeks.org/wp-content/uploads/20210110001129/GFGTechnicalScripterImg4Black0101.png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5012"/>
            <a:ext cx="2964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www.geeksforgeeks.org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