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</p:sldIdLst>
  <p:sldSz cx="12192000" cy="6858000"/>
  <p:notesSz cx="6858000" cy="9144000"/>
  <p:embeddedFontLst>
    <p:embeddedFont>
      <p:font typeface="Plus Jakarta Sans"/>
      <p:italic r:id="rId11"/>
    </p:embeddedFont>
    <p:embeddedFont>
      <p:font typeface="Space Grotesk"/>
      <p:bold r:id="rId1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197548"/>
            <a:ext cx="7620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993552"/>
            <a:ext cx="1857375" cy="285750"/>
          </a:xfrm>
          <a:prstGeom prst="roundRect">
            <a:avLst>
              <a:gd name="adj" fmla="val 13333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197548"/>
            <a:ext cx="7620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433339"/>
            <a:ext cx="14099458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</a:rPr>
              <a:t>Use Time Travel &amp; cloning to create new dev environments.</a:t>
            </a:r>
            <a:endParaRPr sz="3900" b="1" i="0" u="none" dirty="0">
              <a:solidFill>
                <a:schemeClr val="bg1"/>
              </a:solidFill>
              <a:latin typeface="Space Grotesk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9600" y="3267967"/>
            <a:ext cx="7334250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Provisioning Isolated De</a:t>
            </a:r>
            <a:r>
              <a:rPr lang="en-IN" sz="1650" b="0" i="0" u="none" dirty="0">
                <a:solidFill>
                  <a:srgbClr val="94A3B8"/>
                </a:solidFill>
                <a:latin typeface="Plus Jakarta Sans"/>
              </a:rPr>
              <a:t>v</a:t>
            </a:r>
            <a:r>
              <a:rPr sz="1650" b="0" i="0" u="none" dirty="0">
                <a:solidFill>
                  <a:srgbClr val="94A3B8"/>
                </a:solidFill>
                <a:latin typeface="Plus Jakarta Sans"/>
              </a:rPr>
              <a:t> Environments, Permission Inheritance, Pre-Promotion Validation &amp; Zero-Downtime Rollbacks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050702"/>
            <a:ext cx="164782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Space Grotesk"/>
              </a:rPr>
              <a:t>SNOWPRO® ADVANCED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81275" y="2050702"/>
            <a:ext cx="240506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94A3B8"/>
                </a:solidFill>
                <a:latin typeface="Space Grotesk"/>
              </a:rPr>
              <a:t>DEA-C02 EXAM OBJECTIVE 3.3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473773"/>
            <a:ext cx="327421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EXAM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645223"/>
            <a:ext cx="3274218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Plus Jakarta Sans"/>
              </a:rPr>
              <a:t>Domain 3: Data Transformations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3775" y="4473773"/>
            <a:ext cx="36195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64748B"/>
                </a:solidFill>
                <a:latin typeface="Plus Jakarta Sans"/>
              </a:rPr>
              <a:t>KEY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3775" y="4645223"/>
            <a:ext cx="3619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E2E8F0"/>
                </a:solidFill>
                <a:latin typeface="Plus Jakarta Sans"/>
              </a:rPr>
              <a:t>COPY GRANTS, SWAP, AT/BEFORE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605337"/>
            <a:ext cx="10972800" cy="60007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2605087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343400" y="2605087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077200" y="2605087"/>
            <a:ext cx="3505200" cy="1695450"/>
          </a:xfrm>
          <a:prstGeom prst="roundRect">
            <a:avLst>
              <a:gd name="adj" fmla="val 674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4605337"/>
            <a:ext cx="38100" cy="60007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2881312"/>
            <a:ext cx="238125" cy="2667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2881312"/>
            <a:ext cx="266700" cy="2667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2881312"/>
            <a:ext cx="266700" cy="2667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6300" y="4833937"/>
            <a:ext cx="133350" cy="1714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EXAM BREAKDOWN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7048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Section 3.3 Mastery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4795837"/>
            <a:ext cx="11315700" cy="219075"/>
          </a:xfrm>
          <a:prstGeom prst="rect">
            <a:avLst/>
          </a:prstGeom>
          <a:noFill/>
        </p:spPr>
        <p:txBody>
          <a:bodyPr wrap="none" lIns="20955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Exam Core Rule: Cloning is a purely metadata operation — 0 physical data storage cost at creation.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3300412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1. Object Cloning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3624262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Instant metadata-only duplication across databases, schemas, and tables.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9625" y="3300412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2. Permission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9625" y="3624262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Ownership semantics vs explicit privilege replication via COPY GRANTS.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300412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3. Validation &amp; Rollback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3425" y="3624262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Isolated testing, atomic SWAP promotions, and Time Travel recovery.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48375" y="2743200"/>
            <a:ext cx="5534025" cy="2324100"/>
          </a:xfrm>
          <a:prstGeom prst="roundRect">
            <a:avLst>
              <a:gd name="adj" fmla="val 491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86500" y="2981325"/>
            <a:ext cx="5057775" cy="619125"/>
          </a:xfrm>
          <a:prstGeom prst="roundRect">
            <a:avLst>
              <a:gd name="adj" fmla="val 1230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86500" y="3752850"/>
            <a:ext cx="5057775" cy="1076325"/>
          </a:xfrm>
          <a:prstGeom prst="roundRect">
            <a:avLst>
              <a:gd name="adj" fmla="val 7079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448425" y="4171950"/>
            <a:ext cx="2309812" cy="495300"/>
          </a:xfrm>
          <a:prstGeom prst="roundRect">
            <a:avLst>
              <a:gd name="adj" fmla="val 11538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872537" y="4171950"/>
            <a:ext cx="2309812" cy="495300"/>
          </a:xfrm>
          <a:prstGeom prst="roundRect">
            <a:avLst>
              <a:gd name="adj" fmla="val 11538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262312"/>
            <a:ext cx="171450" cy="1809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852862"/>
            <a:ext cx="171450" cy="1809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4443412"/>
            <a:ext cx="171450" cy="18097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CLONING MECHANICS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How Zero-Copy Cloning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2809875"/>
            <a:ext cx="6638329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Metadata Pointers &amp; Copy-on-Write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5350" y="3228975"/>
            <a:ext cx="48672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Instant Provisioning: Duplicate table metadata pointers without copying immutable micro-partitions.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5350" y="3819525"/>
            <a:ext cx="48672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Storage Isolation: DML mutations write new micro-partitions exclusive to the cloned environment.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350" y="4410075"/>
            <a:ext cx="4867275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Zero Initial Cost: Clones incur zero added storage costs until underlying data diverges.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8900" y="3133725"/>
            <a:ext cx="57531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monospace"/>
              </a:rPr>
              <a:t>-- PROVISION DEV ENVIRONMENT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900" y="3276600"/>
            <a:ext cx="57531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38BDF8"/>
                </a:solidFill>
                <a:latin typeface="monospace"/>
              </a:rPr>
              <a:t>CREATE DATABASE dev_db CLONE prod_db;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8425" y="3914775"/>
            <a:ext cx="57435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0F172A"/>
                </a:solidFill>
                <a:latin typeface="Plus Jakarta Sans"/>
              </a:rPr>
              <a:t>Micro-Partition Pointer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3998" y="4248150"/>
            <a:ext cx="265866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0369A1"/>
                </a:solidFill>
                <a:latin typeface="Plus Jakarta Sans"/>
              </a:rPr>
              <a:t>PROD Metadata → [MP_1, MP_2, MP_3]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8110" y="4248150"/>
            <a:ext cx="265866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1" i="0" u="none">
                <a:solidFill>
                  <a:srgbClr val="15803D"/>
                </a:solidFill>
                <a:latin typeface="Plus Jakarta Sans"/>
              </a:rPr>
              <a:t>DEV Metadata → [MP_1, MP_2, MP_3]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81325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81325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81325"/>
            <a:ext cx="3505200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85825" y="3267075"/>
            <a:ext cx="1400175" cy="219075"/>
          </a:xfrm>
          <a:prstGeom prst="roundRect">
            <a:avLst>
              <a:gd name="adj" fmla="val 17391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619625" y="3267075"/>
            <a:ext cx="1323975" cy="219075"/>
          </a:xfrm>
          <a:prstGeom prst="roundRect">
            <a:avLst>
              <a:gd name="adj" fmla="val 17391"/>
            </a:avLst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353425" y="3267075"/>
            <a:ext cx="847725" cy="219075"/>
          </a:xfrm>
          <a:prstGeom prst="roundRect">
            <a:avLst>
              <a:gd name="adj" fmla="val 17391"/>
            </a:avLst>
          </a:prstGeom>
          <a:solidFill>
            <a:srgbClr val="FEE2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HIERARCHICAL CLONING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Cloning Scopes &amp; Unsupported Objects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1075" y="3305175"/>
            <a:ext cx="1304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369A1"/>
                </a:solidFill>
                <a:latin typeface="Plus Jakarta Sans"/>
              </a:rPr>
              <a:t>DATABASE / SCHEMA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09975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Cascading Clones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99097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Recursively clones all child tables, schemas, stages, and views in one metadata pass.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4875" y="3305175"/>
            <a:ext cx="12287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2400E"/>
                </a:solidFill>
                <a:latin typeface="Plus Jakarta Sans"/>
              </a:rPr>
              <a:t>EXTERNAL OBJECTS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9625" y="3609975"/>
            <a:ext cx="3875484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External Tables &amp; Pipes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9625" y="3990975"/>
            <a:ext cx="3048000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External tables not cloned. External stage pipes clone in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PAUSED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state to prevent double-ingestion.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8675" y="3305175"/>
            <a:ext cx="7524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91B1B"/>
                </a:solidFill>
                <a:latin typeface="Plus Jakarta Sans"/>
              </a:rPr>
              <a:t>EXAM TRAP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3425" y="3609975"/>
            <a:ext cx="383857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Internal Stages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3425" y="3990975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Internal named stages are </a:t>
            </a:r>
            <a:r>
              <a:rPr sz="1200" b="1" i="0" u="none">
                <a:solidFill>
                  <a:srgbClr val="475569"/>
                </a:solidFill>
                <a:latin typeface="Plus Jakarta Sans"/>
              </a:rPr>
              <a:t>NOT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 cloned when cloning schemas or databases.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524000"/>
            <a:ext cx="5324475" cy="48006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38875" y="1524000"/>
            <a:ext cx="5343525" cy="4800600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905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23925" y="5629275"/>
            <a:ext cx="4695825" cy="38100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562725" y="5619750"/>
            <a:ext cx="4695825" cy="38100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1857375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2725" y="1866900"/>
            <a:ext cx="22860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2686050"/>
            <a:ext cx="133350" cy="1524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038475"/>
            <a:ext cx="133350" cy="1524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2343150"/>
            <a:ext cx="133350" cy="1524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2725" y="2695575"/>
            <a:ext cx="133350" cy="1524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2725" y="3248025"/>
            <a:ext cx="152400" cy="152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SECURITY &amp; ACCESS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Permission Inheritance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6325" y="5743575"/>
            <a:ext cx="4486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334155"/>
                </a:solidFill>
                <a:latin typeface="monospace"/>
              </a:rPr>
              <a:t>CREATE TABLE dev_tbl CLONE prod_tbl;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15125" y="5734050"/>
            <a:ext cx="44862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369A1"/>
                </a:solidFill>
                <a:latin typeface="monospace"/>
              </a:rPr>
              <a:t>CREATE TABLE dev_tbl CLONE prod_tbl COPY GRANTS;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400" y="1838325"/>
            <a:ext cx="3325415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Default Clone Semantics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525" y="2647950"/>
            <a:ext cx="56411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Role executing CLONE becomes OWNER of new object.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525" y="3000375"/>
            <a:ext cx="4562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Child objects inherit permissions from parent container default grants.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5625" y="1847850"/>
            <a:ext cx="2862857" cy="2667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0F172A"/>
                </a:solidFill>
                <a:latin typeface="Space Grotesk"/>
              </a:rPr>
              <a:t>COPY GRANTS Syntax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1325" y="2305050"/>
            <a:ext cx="54006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Replicates explicit SELECT, INSERT, UPDATE grants.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1325" y="2657475"/>
            <a:ext cx="4562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Retains original ownership grants on historical source privileges.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0375" y="3209925"/>
            <a:ext cx="53816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Plus Jakarta Sans"/>
              </a:rPr>
              <a:t>Exam Rule: Requires OWNERSHIP or MANAGE GRANTS privilege.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3157537"/>
            <a:ext cx="2628900" cy="1609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157537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390900" y="3157537"/>
            <a:ext cx="2628900" cy="1609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390900" y="3157537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172200" y="3157537"/>
            <a:ext cx="2628900" cy="1609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72200" y="3157537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953500" y="3157537"/>
            <a:ext cx="2628900" cy="160972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953500" y="3157537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CI/CD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Isolated Environment Provisioning Lifecycle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386137"/>
            <a:ext cx="2266950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9500" y="3386137"/>
            <a:ext cx="2266950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386137"/>
            <a:ext cx="2266950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2100" y="3386137"/>
            <a:ext cx="2266950" cy="1152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Plus Jakarta Sans"/>
              </a:rPr>
              <a:t>STEP 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3700462"/>
            <a:ext cx="2850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Clone Production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3995737"/>
            <a:ext cx="22669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Spin up ephemeral PR database instantly using zero-copy cloning.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9500" y="3700462"/>
            <a:ext cx="2850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Mask Sensitive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9500" y="3995737"/>
            <a:ext cx="22669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Apply dynamic data masking or anonymization policies on clone.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700462"/>
            <a:ext cx="2850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Apply Schema DDL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995737"/>
            <a:ext cx="22669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Execute feature migrations in full isolation without PROD locks.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700462"/>
            <a:ext cx="285035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Space Grotesk"/>
              </a:rPr>
              <a:t>Teardown Ephemeral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995737"/>
            <a:ext cx="226695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64748B"/>
                </a:solidFill>
                <a:latin typeface="Plus Jakarta Sans"/>
              </a:rPr>
              <a:t>Drop cloned dev database after pipeline completion to free metadata.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71800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971800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971800"/>
            <a:ext cx="3505200" cy="1905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48025"/>
            <a:ext cx="38100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625" y="3248025"/>
            <a:ext cx="30480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425" y="3248025"/>
            <a:ext cx="3048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PRE-PROMOTION TESTING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Pre-Promotion Validation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70522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Zero-Diff Data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048125"/>
            <a:ext cx="30480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Run MINUS / EXCEPT queries between PROD and transformed DEV clone to catch unintended side effects.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9625" y="3705225"/>
            <a:ext cx="3875484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Performance Profiling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9625" y="4048125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Analyze query profile and micro-partition pruning on full-scale realistic dataset without impacting live SLAs.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3425" y="3705225"/>
            <a:ext cx="3838575" cy="247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Space Grotesk"/>
              </a:rPr>
              <a:t>Constraint &amp; Quality Checks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3425" y="4048125"/>
            <a:ext cx="3048000" cy="542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Validate NOT NULL, UNIQUE, and custom data assertions against live volumes prior to code deployment.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619375"/>
            <a:ext cx="10972800" cy="257175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619375"/>
          <a:ext cx="10963273" cy="2571750"/>
        </p:xfrm>
        <a:graphic>
          <a:graphicData uri="http://schemas.openxmlformats.org/drawingml/2006/table">
            <a:tbl>
              <a:tblPr/>
              <a:tblGrid>
                <a:gridCol w="28799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92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38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019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Scenario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Recommended Strategy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Key Command / 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F8FAFC"/>
                          </a:solidFill>
                          <a:latin typeface="Plus Jakarta Sans"/>
                        </a:rPr>
                        <a:t>RTO / Impact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Accidental Table Drop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UNDROP Object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284C7"/>
                          </a:solidFill>
                          <a:latin typeface="monospace"/>
                        </a:rPr>
                        <a:t>UNDROP TABLE orders;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Instant (&lt; 5s)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Bad DML / Data Corruption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Clone BEFORE Query ID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284C7"/>
                          </a:solidFill>
                          <a:latin typeface="monospace"/>
                        </a:rPr>
                        <a:t>CLONE ... BEFORE(STATEMENT)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Seconds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Failed Schema Deployment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Re-Swap Stage Schema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0284C7"/>
                          </a:solidFill>
                          <a:latin typeface="monospace"/>
                        </a:rPr>
                        <a:t>ALTER SCHEMA prod SWAP WITH backup;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Instant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Time Travel Retention Expired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Fail-safe Restoration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Snowflake Support Ticket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 u="none">
                          <a:solidFill>
                            <a:srgbClr val="EF4444"/>
                          </a:solidFill>
                          <a:latin typeface="Plus Jakarta Sans"/>
                        </a:rPr>
                        <a:t>Hours / Days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284C7"/>
                </a:solidFill>
                <a:latin typeface="Space Grotesk"/>
              </a:rPr>
              <a:t>ROLLBACK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Rollback Decision Matrix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476500"/>
            <a:ext cx="10972800" cy="838200"/>
          </a:xfrm>
          <a:prstGeom prst="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505200"/>
            <a:ext cx="10972800" cy="838200"/>
          </a:xfrm>
          <a:prstGeom prst="rect">
            <a:avLst/>
          </a:prstGeom>
          <a:solidFill>
            <a:srgbClr val="FFF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533900"/>
            <a:ext cx="10972800" cy="838200"/>
          </a:xfrm>
          <a:prstGeom prst="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476500"/>
            <a:ext cx="38100" cy="8382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505200"/>
            <a:ext cx="38100" cy="838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33900"/>
            <a:ext cx="38100" cy="838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DC2626"/>
                </a:solidFill>
                <a:latin typeface="Space Grotesk"/>
              </a:rPr>
              <a:t>CRITICAL EXAM TRAPS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81050"/>
            <a:ext cx="11582400" cy="4381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Space Grotesk"/>
              </a:rPr>
              <a:t>DEA-C02 Exam Tricks &amp; Edge Cases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8200" y="266700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91B1B"/>
                </a:solidFill>
                <a:latin typeface="Plus Jakarta Sans"/>
              </a:rPr>
              <a:t>1. COPY GRANTS on Transient Tables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8200" y="292417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7F1D1D"/>
                </a:solidFill>
                <a:latin typeface="Plus Jakarta Sans"/>
              </a:rPr>
              <a:t>Transient and temporary tables can be cloned, but cloning a permanent table to transient changes Time Travel behavior (max 1 day retention).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69570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92400E"/>
                </a:solidFill>
                <a:latin typeface="Plus Jakarta Sans"/>
              </a:rPr>
              <a:t>2. Pipes &amp; Scheduled Tasks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95287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78350F"/>
                </a:solidFill>
                <a:latin typeface="Plus Jakarta Sans"/>
              </a:rPr>
              <a:t>Tasks cloned in a database/schema land in </a:t>
            </a:r>
            <a:r>
              <a:rPr sz="1200" b="1" i="0" u="none">
                <a:solidFill>
                  <a:srgbClr val="78350F"/>
                </a:solidFill>
                <a:latin typeface="Plus Jakarta Sans"/>
              </a:rPr>
              <a:t>SUSPENDED</a:t>
            </a:r>
            <a:r>
              <a:rPr sz="1200" b="0" i="0" u="none">
                <a:solidFill>
                  <a:srgbClr val="78350F"/>
                </a:solidFill>
                <a:latin typeface="Plus Jakarta Sans"/>
              </a:rPr>
              <a:t> status by default. Pipes pointing to external stages clone in </a:t>
            </a:r>
            <a:r>
              <a:rPr sz="1200" b="1" i="0" u="none">
                <a:solidFill>
                  <a:srgbClr val="78350F"/>
                </a:solidFill>
                <a:latin typeface="Plus Jakarta Sans"/>
              </a:rPr>
              <a:t>PAUSED</a:t>
            </a:r>
            <a:r>
              <a:rPr sz="1200" b="0" i="0" u="none">
                <a:solidFill>
                  <a:srgbClr val="78350F"/>
                </a:solidFill>
                <a:latin typeface="Plus Jakarta Sans"/>
              </a:rPr>
              <a:t> state.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4724400"/>
            <a:ext cx="113538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166534"/>
                </a:solidFill>
                <a:latin typeface="Plus Jakarta Sans"/>
              </a:rPr>
              <a:t>3. Storage Costs Post-Divergence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4981575"/>
            <a:ext cx="11353800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14532D"/>
                </a:solidFill>
                <a:latin typeface="Plus Jakarta Sans"/>
              </a:rPr>
              <a:t>Initial clones consume zero storage bytes. Storage charges begin accruing </a:t>
            </a:r>
            <a:r>
              <a:rPr sz="1200" b="0" i="1" u="none">
                <a:solidFill>
                  <a:srgbClr val="14532D"/>
                </a:solidFill>
                <a:latin typeface="Plus Jakarta Sans"/>
              </a:rPr>
              <a:t>only</a:t>
            </a:r>
            <a:r>
              <a:rPr sz="1200" b="0" i="0" u="none">
                <a:solidFill>
                  <a:srgbClr val="14532D"/>
                </a:solidFill>
                <a:latin typeface="Plus Jakarta Sans"/>
              </a:rPr>
              <a:t> as original micro-partitions are modified or updated.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221</TotalTime>
  <Words>666</Words>
  <Application>Microsoft Office PowerPoint</Application>
  <PresentationFormat>Widescreen</PresentationFormat>
  <Paragraphs>102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Space Grotesk</vt:lpstr>
      <vt:lpstr>Plus Jakarta Sans</vt:lpstr>
      <vt:lpstr>Calibri</vt:lpstr>
      <vt:lpstr>monospace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Jaswinder Singh</cp:lastModifiedBy>
  <cp:revision>2</cp:revision>
  <dcterms:created xsi:type="dcterms:W3CDTF">2013-01-27T09:14:16Z</dcterms:created>
  <dcterms:modified xsi:type="dcterms:W3CDTF">2026-10-06T10:04:33Z</dcterms:modified>
  <cp:category/>
</cp:coreProperties>
</file>